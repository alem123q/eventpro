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f32c13ef-e908-c7ab-7036-c64c2c5ddf05}">
          <p14:sldIdLst>
            <p14:sldId id="256"/>
            <p14:sldId id="257"/>
          </p14:sldIdLst>
        </p14:section>
        <p14:section name="Tecnologías y arquitectura" id="{e4aa1d03-d21b-0a94-6754-db6be0509fb6}">
          <p14:sldIdLst>
            <p14:sldId id="258"/>
            <p14:sldId id="259"/>
            <p14:sldId id="260"/>
          </p14:sldIdLst>
        </p14:section>
        <p14:section name="Funcionalidades" id="{10aeb803-6dca-0b78-e30d-3bc975acfbcf}">
          <p14:sldIdLst>
            <p14:sldId id="261"/>
            <p14:sldId id="262"/>
            <p14:sldId id="263"/>
            <p14:sldId id="264"/>
            <p14:sldId id="265"/>
            <p14:sldId id="266"/>
          </p14:sldIdLst>
        </p14:section>
        <p14:section name="Conclusiones" id="{dea7f291-1054-cc06-a19a-bb2d296a810e}">
          <p14:sldIdLst>
            <p14:sldId id="267"/>
          </p14:sldIdLst>
        </p14:section>
        <p14:section name="Trabajo a futuro" id="{481d44d1-34da-656c-4057-786062383b0b}">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Presentamos EventPro, una aplicación web para organizar eventos de punta a punta: invitados, invitaciones por correo, control de ingreso con QR desde el celular, gastos y reportes. La recorremos en cuatro partes: tecnologías y arquitectura, funcionalidades, conclusiones y trabajo a futuro.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presentación sigue la estructura del informe: primero cómo está construida la aplicación, después qué hace, y al final conclusiones y lo que queda para más adelante.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Usamos tecnologías vistas en la materia. El backend es Django con Django REST Framework, organizado en seis aplicaciones. El frontend es React con Vite. Todo corre en dos contenedores con Docker Compose. Tenemos 194 pruebas automatizadas de la API y pruebas de punta a punta en el navegador con Playwright.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navegador, sea de la computadora o del celular, solo se comunica con el servidor de Vite por HTTPS. Vite entrega la aplicación y reenvía los pedidos de la API al backend. HTTPS es necesario para que el navegador del celular permita usar la cámara.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usuario organiza eventos y puede colaborar en eventos de otros. Cada evento tiene invitados, gastos y colaboradores. Cada invitación puede tener como máximo un registro de asistencia, lo que impide registrar dos veces a la misma persona. En verde está lo que agregamos nosotros.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las nueve áreas de la aplicación. En las próximas diapositivas mostramos las que más se usan el día del evento. El repositorio tiene un documento con las 85 pruebas manuales para verificar cada 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evento arranca como borrador. Al activarlo se pueden enviar invitaciones y hacer el check-in. En la lista de invitados se ve, para cada uno, si se le envió la invitación, qué respondió y si ya ingresó.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invitado recibe un mail con su código QR y dos botones. Abren una página pública, sin crear cuenta, donde confirma o rechaza. Al confirmar ve su QR para la entrada. El enlace usa el mismo código aleatorio de 128 bits, así que no se puede adivinar el de otra persona.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escáner queda abierto entre lecturas, para registrar a varios invitados seguidos. Las imágenes se procesan en el teléfono y solo se envía el código. Cada intento informa a quién se registró o el motivo exacto del rechazo. También resolvimos la lectura de fotos tomadas de cerca a la pantalla, donde aparecía la grilla de píxeles del monitor.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evento tiene su página de gastos con una barra que compara lo gastado con el presupuesto. Los reportes de invitados y de gastos se descargan en Excel, con formato de moneda y fechas; el total y lo disponible son fórmulas. Al principio eran CSV, pero un CSV no guarda formatos, así que pasamos a Excel.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un evento grande, el organizador puede sumar colaboradores por su correo. El colaborador ve el evento con una etiqueta y solo tiene acceso al check-in y al historial. Al quitarlo pierde el acceso en el momento. Toda la aplicación se puede usar desde el celular.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aplicación cubre el ciclo completo de un evento y se ejecuta con un solo comando. Tiene 194 pruebas automatizadas y 85 pruebas manuales documentadas. Aprendimos tres cosas: conviene partir de una base que funcione, hay que probar como lo haría un usuario real, y una protección configurada no es lo mismo que una protección comprobada.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usar la aplicación en un evento real falta publicarla, configurar el envío real de correos y pasar a PostgreSQL. Para crecer, planeamos una página principal pública con lugares populares, un carrusel de lugares que pagan publicidad, eventos destacados y la reserva de lugares, donde el dueño acepta la fecha y queda en su calendario. Los datos de los lugares tendrán que respetar los términos de uso de cada sitio.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Gracias. El código, el informe y el plan de pruebas están en el repositorio.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1E1B4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554480"/>
            <a:ext cx="6035040" cy="118872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640080" y="2834640"/>
            <a:ext cx="5852160" cy="91440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4"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7280"/>
                </a:solidFill>
              </a:rPr>
              <a:t>EventPro · Programación · UNRaf</a:t>
            </a:r>
            <a:endParaRPr lang="en-US" sz="10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IERRE">
    <p:bg>
      <p:bgPr>
        <a:solidFill>
          <a:srgbClr val="1E1B4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103120"/>
            <a:ext cx="10881360" cy="1280160"/>
          </a:xfrm>
          <a:prstGeom prst="rect">
            <a:avLst/>
          </a:prstGeom>
          <a:noFill/>
          <a:ln/>
        </p:spPr>
        <p:txBody>
          <a:bodyPr wrap="square" rtlCol="0"/>
          <a:lstStyle>
            <a:lvl1pPr algn="ctr" indent="0" marL="0">
              <a:buNone/>
              <a:defRPr lang="en-US" sz="6000" b="1" dirty="0">
                <a:solidFill>
                  <a:schemeClr val="bg1"/>
                </a:solidFill>
              </a:defRPr>
            </a:lvl1pPr>
          </a:lstStyle>
          <a:p>
            <a:pPr algn="ctr" indent="0" marL="0">
              <a:buNone/>
            </a:pPr>
            <a:endParaRPr lang="en-US" sz="6000" dirty="0"/>
          </a:p>
        </p:txBody>
      </p:sp>
      <p:sp>
        <p:nvSpPr>
          <p:cNvPr id="3" name="Text 0"/>
          <p:cNvSpPr/>
          <p:nvPr>
            <p:ph idx="101" type="body" hasCustomPrompt="1"/>
          </p:nvPr>
        </p:nvSpPr>
        <p:spPr>
          <a:xfrm>
            <a:off x="640080" y="3474720"/>
            <a:ext cx="10881360" cy="731520"/>
          </a:xfrm>
          <a:prstGeom prst="rect">
            <a:avLst/>
          </a:prstGeom>
          <a:noFill/>
          <a:ln/>
        </p:spPr>
        <p:txBody>
          <a:bodyPr wrap="square" rtlCol="0"/>
          <a:lstStyle>
            <a:lvl1pPr algn="ctr" indent="0" marL="0">
              <a:buNone/>
              <a:defRPr lang="en-US" sz="2400" dirty="0">
                <a:solidFill>
                  <a:schemeClr val="bg2"/>
                </a:solidFill>
              </a:defRPr>
            </a:lvl1pPr>
          </a:lstStyle>
          <a:p>
            <a:pPr algn="ctr" indent="0" marL="0">
              <a:buNone/>
            </a:pPr>
            <a:endParaRPr lang="en-US" sz="2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3.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3.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3.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554480"/>
            <a:ext cx="6035040" cy="1188720"/>
          </a:xfrm>
          <a:prstGeom prst="rect">
            <a:avLst/>
          </a:prstGeom>
          <a:noFill/>
          <a:ln/>
        </p:spPr>
        <p:txBody>
          <a:bodyPr wrap="square" lIns="0" tIns="0" rIns="0" bIns="0" rtlCol="0" anchor="b"/>
          <a:lstStyle/>
          <a:p>
            <a:pPr algn="l" indent="0" marL="0">
              <a:buNone/>
            </a:pPr>
            <a:r>
              <a:rPr lang="en-US" sz="6000" b="1" dirty="0">
                <a:solidFill>
                  <a:schemeClr val="bg1"/>
                </a:solidFill>
              </a:rPr>
              <a:t>EventPro</a:t>
            </a:r>
            <a:endParaRPr lang="en-US" sz="6000" dirty="0"/>
          </a:p>
        </p:txBody>
      </p:sp>
      <p:sp>
        <p:nvSpPr>
          <p:cNvPr id="3" name="Text 0"/>
          <p:cNvSpPr/>
          <p:nvPr>
            <p:ph idx="101" type="body" hasCustomPrompt="1"/>
          </p:nvPr>
        </p:nvSpPr>
        <p:spPr>
          <a:xfrm>
            <a:off x="640080" y="2834640"/>
            <a:ext cx="5852160" cy="914400"/>
          </a:xfrm>
          <a:prstGeom prst="rect">
            <a:avLst/>
          </a:prstGeom>
          <a:noFill/>
          <a:ln/>
        </p:spPr>
        <p:txBody>
          <a:bodyPr wrap="square" lIns="0" tIns="0" rIns="0" bIns="0" rtlCol="0" anchor="t"/>
          <a:lstStyle/>
          <a:p>
            <a:pPr algn="l" indent="0" marL="0">
              <a:buNone/>
            </a:pPr>
            <a:r>
              <a:rPr lang="en-US" sz="2200" dirty="0">
                <a:solidFill>
                  <a:schemeClr val="bg2"/>
                </a:solidFill>
              </a:rPr>
              <a:t>Aplicación web para la gestión integral de eventos</a:t>
            </a:r>
            <a:endParaRPr lang="en-US" sz="2200" dirty="0"/>
          </a:p>
        </p:txBody>
      </p:sp>
      <p:sp>
        <p:nvSpPr>
          <p:cNvPr id="4" name="Text 2"/>
          <p:cNvSpPr txBox="1"/>
          <p:nvPr/>
        </p:nvSpPr>
        <p:spPr>
          <a:xfrm>
            <a:off x="640080" y="4343400"/>
            <a:ext cx="5852160" cy="1097280"/>
          </a:xfrm>
          <a:prstGeom prst="rect">
            <a:avLst/>
          </a:prstGeom>
          <a:noFill/>
          <a:ln/>
        </p:spPr>
        <p:txBody>
          <a:bodyPr wrap="square" lIns="0" tIns="0" rIns="0" bIns="0" rtlCol="0" anchor="t"/>
          <a:lstStyle/>
          <a:p>
            <a:pPr indent="0" marL="0">
              <a:spcAft>
                <a:spcPts val="600"/>
              </a:spcAft>
              <a:buNone/>
            </a:pPr>
            <a:r>
              <a:rPr lang="en-US" sz="1500" b="1" dirty="0">
                <a:solidFill>
                  <a:schemeClr val="bg1"/>
                </a:solidFill>
              </a:rPr>
              <a:t>Programación · Ingeniería en Computación · UNRaf</a:t>
            </a:r>
            <a:endParaRPr lang="en-US" sz="1500" dirty="0"/>
          </a:p>
          <a:p>
            <a:pPr indent="0" marL="0">
              <a:spcAft>
                <a:spcPts val="600"/>
              </a:spcAft>
              <a:buNone/>
            </a:pPr>
            <a:r>
              <a:rPr lang="en-US" sz="1500" dirty="0">
                <a:solidFill>
                  <a:schemeClr val="bg1"/>
                </a:solidFill>
              </a:rPr>
              <a:t>Francisco Alemandi · Eloy Kirov · Sebastián Palavecino</a:t>
            </a:r>
            <a:endParaRPr lang="en-US" sz="1500" dirty="0"/>
          </a:p>
          <a:p>
            <a:pPr indent="0" marL="0">
              <a:spcAft>
                <a:spcPts val="600"/>
              </a:spcAft>
              <a:buNone/>
            </a:pPr>
            <a:r>
              <a:rPr lang="en-US" sz="1500" dirty="0">
                <a:solidFill>
                  <a:schemeClr val="bg1"/>
                </a:solidFill>
              </a:rPr>
              <a:t>Docente: Javier Fornari · Octubre de 2026</a:t>
            </a:r>
            <a:endParaRPr lang="en-US" sz="1500" dirty="0"/>
          </a:p>
        </p:txBody>
      </p:sp>
      <p:sp>
        <p:nvSpPr>
          <p:cNvPr id="5" name="ventana"/>
          <p:cNvSpPr/>
          <p:nvPr/>
        </p:nvSpPr>
        <p:spPr>
          <a:xfrm>
            <a:off x="6400800" y="1188720"/>
            <a:ext cx="4846320" cy="3230118"/>
          </a:xfrm>
          <a:prstGeom prst="roundRect">
            <a:avLst>
              <a:gd name="adj" fmla="val 2265"/>
            </a:avLst>
          </a:prstGeom>
          <a:solidFill>
            <a:srgbClr val="E5E7EB"/>
          </a:solidFill>
          <a:ln w="9525">
            <a:solidFill>
              <a:srgbClr val="D1D5DB"/>
            </a:solidFill>
            <a:prstDash val="solid"/>
          </a:ln>
          <a:effectLst>
            <a:outerShdw sx="100000" sy="100000" kx="0" ky="0" algn="bl" rotWithShape="0" blurRad="101600" dist="38100" dir="5400000">
              <a:srgbClr val="000000">
                <a:alpha val="18000"/>
              </a:srgbClr>
            </a:outerShdw>
          </a:effectLst>
        </p:spPr>
      </p:sp>
      <p:sp>
        <p:nvSpPr>
          <p:cNvPr id="6" name="Shape 4"/>
          <p:cNvSpPr/>
          <p:nvPr/>
        </p:nvSpPr>
        <p:spPr>
          <a:xfrm>
            <a:off x="6510528" y="1243584"/>
            <a:ext cx="91440" cy="91440"/>
          </a:xfrm>
          <a:prstGeom prst="ellipse">
            <a:avLst/>
          </a:prstGeom>
          <a:solidFill>
            <a:srgbClr val="F87171"/>
          </a:solidFill>
          <a:ln w="12700">
            <a:solidFill>
              <a:srgbClr val="F87171"/>
            </a:solidFill>
            <a:prstDash val="solid"/>
          </a:ln>
        </p:spPr>
      </p:sp>
      <p:sp>
        <p:nvSpPr>
          <p:cNvPr id="7" name="Shape 5"/>
          <p:cNvSpPr/>
          <p:nvPr/>
        </p:nvSpPr>
        <p:spPr>
          <a:xfrm>
            <a:off x="6656832" y="1243584"/>
            <a:ext cx="91440" cy="91440"/>
          </a:xfrm>
          <a:prstGeom prst="ellipse">
            <a:avLst/>
          </a:prstGeom>
          <a:solidFill>
            <a:srgbClr val="FBBF24"/>
          </a:solidFill>
          <a:ln w="12700">
            <a:solidFill>
              <a:srgbClr val="FBBF24"/>
            </a:solidFill>
            <a:prstDash val="solid"/>
          </a:ln>
        </p:spPr>
      </p:sp>
      <p:sp>
        <p:nvSpPr>
          <p:cNvPr id="8" name="Shape 6"/>
          <p:cNvSpPr/>
          <p:nvPr/>
        </p:nvSpPr>
        <p:spPr>
          <a:xfrm>
            <a:off x="6803136" y="1243584"/>
            <a:ext cx="91440" cy="91440"/>
          </a:xfrm>
          <a:prstGeom prst="ellipse">
            <a:avLst/>
          </a:prstGeom>
          <a:solidFill>
            <a:srgbClr val="34D399"/>
          </a:solidFill>
          <a:ln w="12700">
            <a:solidFill>
              <a:srgbClr val="34D399"/>
            </a:solidFill>
            <a:prstDash val="solid"/>
          </a:ln>
        </p:spPr>
      </p:sp>
      <p:pic>
        <p:nvPicPr>
          <p:cNvPr id="9" name="captura" descr="/tmp/claude-0/ppt/img/d_dashboard.jpg">    </p:cNvPr>
          <p:cNvPicPr>
            <a:picLocks noChangeAspect="1"/>
          </p:cNvPicPr>
          <p:nvPr/>
        </p:nvPicPr>
        <p:blipFill>
          <a:blip r:embed="rId1"/>
          <a:stretch>
            <a:fillRect/>
          </a:stretch>
        </p:blipFill>
        <p:spPr>
          <a:xfrm>
            <a:off x="6400800" y="1389888"/>
            <a:ext cx="4846320" cy="3028950"/>
          </a:xfrm>
          <a:prstGeom prst="rect">
            <a:avLst/>
          </a:prstGeom>
        </p:spPr>
      </p:pic>
      <p:sp>
        <p:nvSpPr>
          <p:cNvPr id="10" name="celular"/>
          <p:cNvSpPr/>
          <p:nvPr/>
        </p:nvSpPr>
        <p:spPr>
          <a:xfrm>
            <a:off x="9418320" y="2331720"/>
            <a:ext cx="2244411" cy="3931920"/>
          </a:xfrm>
          <a:prstGeom prst="roundRect">
            <a:avLst>
              <a:gd name="adj" fmla="val 8963"/>
            </a:avLst>
          </a:prstGeom>
          <a:solidFill>
            <a:srgbClr val="111827"/>
          </a:solidFill>
          <a:ln w="12700">
            <a:solidFill>
              <a:srgbClr val="111827"/>
            </a:solidFill>
            <a:prstDash val="solid"/>
          </a:ln>
          <a:effectLst>
            <a:outerShdw sx="100000" sy="100000" kx="0" ky="0" algn="bl" rotWithShape="0" blurRad="101600" dist="38100" dir="5400000">
              <a:srgbClr val="000000">
                <a:alpha val="18000"/>
              </a:srgbClr>
            </a:outerShdw>
          </a:effectLst>
        </p:spPr>
      </p:sp>
      <p:pic>
        <p:nvPicPr>
          <p:cNvPr id="11" name="captura-celular" descr="/tmp/claude-0/ppt/img/ph_invitacion.jpg">    </p:cNvPr>
          <p:cNvPicPr>
            <a:picLocks noChangeAspect="1"/>
          </p:cNvPicPr>
          <p:nvPr/>
        </p:nvPicPr>
        <p:blipFill>
          <a:blip r:embed="rId2"/>
          <a:stretch>
            <a:fillRect/>
          </a:stretch>
        </p:blipFill>
        <p:spPr>
          <a:xfrm>
            <a:off x="9500616" y="2414016"/>
            <a:ext cx="2079819" cy="3767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320040"/>
          </a:xfrm>
          <a:prstGeom prst="rect">
            <a:avLst/>
          </a:prstGeom>
          <a:noFill/>
          <a:ln/>
        </p:spPr>
        <p:txBody>
          <a:bodyPr wrap="square" lIns="0" tIns="0" rIns="0" bIns="0" rtlCol="0"/>
          <a:lstStyle/>
          <a:p>
            <a:pPr indent="0" marL="0">
              <a:buNone/>
            </a:pPr>
            <a:r>
              <a:rPr lang="en-US" sz="1200" b="1" spc="200" kern="0" dirty="0">
                <a:solidFill>
                  <a:schemeClr val="accent1"/>
                </a:solidFill>
              </a:rPr>
              <a:t>CONTENIDO</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400" b="1" dirty="0">
                <a:solidFill>
                  <a:schemeClr val="tx2"/>
                </a:solidFill>
              </a:rPr>
              <a:t>Qué vamos a ver</a:t>
            </a:r>
            <a:endParaRPr lang="en-US" sz="3400" dirty="0"/>
          </a:p>
        </p:txBody>
      </p:sp>
      <p:sp>
        <p:nvSpPr>
          <p:cNvPr id="4" name="tarjeta"/>
          <p:cNvSpPr/>
          <p:nvPr/>
        </p:nvSpPr>
        <p:spPr>
          <a:xfrm>
            <a:off x="548640" y="1737360"/>
            <a:ext cx="2606040" cy="3931920"/>
          </a:xfrm>
          <a:prstGeom prst="roundRect">
            <a:avLst>
              <a:gd name="adj" fmla="val 5263"/>
            </a:avLst>
          </a:prstGeom>
          <a:solidFill>
            <a:srgbClr val="EEF2FF"/>
          </a:solidFill>
          <a:ln w="12700">
            <a:solidFill>
              <a:srgbClr val="EEF2FF"/>
            </a:solidFill>
            <a:prstDash val="solid"/>
          </a:ln>
        </p:spPr>
      </p:sp>
      <p:sp>
        <p:nvSpPr>
          <p:cNvPr id="5" name="icono-fondo"/>
          <p:cNvSpPr/>
          <p:nvPr/>
        </p:nvSpPr>
        <p:spPr>
          <a:xfrm>
            <a:off x="822960" y="2057400"/>
            <a:ext cx="777240" cy="777240"/>
          </a:xfrm>
          <a:prstGeom prst="ellipse">
            <a:avLst/>
          </a:prstGeom>
          <a:solidFill>
            <a:srgbClr val="4F46E5"/>
          </a:solidFill>
          <a:ln w="12700">
            <a:solidFill>
              <a:srgbClr val="4F46E5"/>
            </a:solidFill>
            <a:prstDash val="solid"/>
          </a:ln>
        </p:spPr>
      </p:sp>
      <p:pic>
        <p:nvPicPr>
          <p:cNvPr id="6" name="icono" descr="preencoded.png">    </p:cNvPr>
          <p:cNvPicPr>
            <a:picLocks noChangeAspect="1"/>
          </p:cNvPicPr>
          <p:nvPr/>
        </p:nvPicPr>
        <p:blipFill>
          <a:blip r:embed="rId1"/>
          <a:stretch>
            <a:fillRect/>
          </a:stretch>
        </p:blipFill>
        <p:spPr>
          <a:xfrm>
            <a:off x="1017270" y="2251710"/>
            <a:ext cx="388620" cy="388620"/>
          </a:xfrm>
          <a:prstGeom prst="rect">
            <a:avLst/>
          </a:prstGeom>
        </p:spPr>
      </p:pic>
      <p:sp>
        <p:nvSpPr>
          <p:cNvPr id="7" name="Text 4"/>
          <p:cNvSpPr txBox="1"/>
          <p:nvPr/>
        </p:nvSpPr>
        <p:spPr>
          <a:xfrm>
            <a:off x="822960" y="3063240"/>
            <a:ext cx="2103120" cy="548640"/>
          </a:xfrm>
          <a:prstGeom prst="rect">
            <a:avLst/>
          </a:prstGeom>
          <a:noFill/>
          <a:ln/>
        </p:spPr>
        <p:txBody>
          <a:bodyPr wrap="square" lIns="0" tIns="0" rIns="0" bIns="0" rtlCol="0" anchor="t"/>
          <a:lstStyle/>
          <a:p>
            <a:pPr indent="0" marL="0">
              <a:buNone/>
            </a:pPr>
            <a:r>
              <a:rPr lang="en-US" sz="3200" b="1" dirty="0">
                <a:solidFill>
                  <a:schemeClr val="accent1"/>
                </a:solidFill>
              </a:rPr>
              <a:t>01</a:t>
            </a:r>
            <a:endParaRPr lang="en-US" sz="3200" dirty="0"/>
          </a:p>
        </p:txBody>
      </p:sp>
      <p:sp>
        <p:nvSpPr>
          <p:cNvPr id="8" name="Text 5"/>
          <p:cNvSpPr txBox="1"/>
          <p:nvPr/>
        </p:nvSpPr>
        <p:spPr>
          <a:xfrm>
            <a:off x="822960" y="3657600"/>
            <a:ext cx="2103120" cy="731520"/>
          </a:xfrm>
          <a:prstGeom prst="rect">
            <a:avLst/>
          </a:prstGeom>
          <a:noFill/>
          <a:ln/>
        </p:spPr>
        <p:txBody>
          <a:bodyPr wrap="square" lIns="0" tIns="0" rIns="0" bIns="0" rtlCol="0" anchor="t"/>
          <a:lstStyle/>
          <a:p>
            <a:pPr indent="0" marL="0">
              <a:buNone/>
            </a:pPr>
            <a:r>
              <a:rPr lang="en-US" sz="2000" b="1" dirty="0">
                <a:solidFill>
                  <a:schemeClr val="tx2"/>
                </a:solidFill>
              </a:rPr>
              <a:t>Tecnologías y arquitectura</a:t>
            </a:r>
            <a:endParaRPr lang="en-US" sz="2000" dirty="0"/>
          </a:p>
        </p:txBody>
      </p:sp>
      <p:sp>
        <p:nvSpPr>
          <p:cNvPr id="9" name="Text 6"/>
          <p:cNvSpPr txBox="1"/>
          <p:nvPr/>
        </p:nvSpPr>
        <p:spPr>
          <a:xfrm>
            <a:off x="822960" y="4434840"/>
            <a:ext cx="2103120" cy="1005840"/>
          </a:xfrm>
          <a:prstGeom prst="rect">
            <a:avLst/>
          </a:prstGeom>
          <a:noFill/>
          <a:ln/>
        </p:spPr>
        <p:txBody>
          <a:bodyPr wrap="square" lIns="0" tIns="0" rIns="0" bIns="0" rtlCol="0" anchor="t"/>
          <a:lstStyle/>
          <a:p>
            <a:pPr indent="0" marL="0">
              <a:buNone/>
            </a:pPr>
            <a:r>
              <a:rPr lang="en-US" sz="1500" dirty="0">
                <a:solidFill>
                  <a:schemeClr val="tx1"/>
                </a:solidFill>
              </a:rPr>
              <a:t>El stack, cómo viaja un pedido y el modelo de datos.</a:t>
            </a:r>
            <a:endParaRPr lang="en-US" sz="1500" dirty="0"/>
          </a:p>
        </p:txBody>
      </p:sp>
      <p:sp>
        <p:nvSpPr>
          <p:cNvPr id="10" name="tarjeta"/>
          <p:cNvSpPr/>
          <p:nvPr/>
        </p:nvSpPr>
        <p:spPr>
          <a:xfrm>
            <a:off x="3364992" y="1737360"/>
            <a:ext cx="2606040" cy="3931920"/>
          </a:xfrm>
          <a:prstGeom prst="roundRect">
            <a:avLst>
              <a:gd name="adj" fmla="val 5263"/>
            </a:avLst>
          </a:prstGeom>
          <a:solidFill>
            <a:srgbClr val="EEF2FF"/>
          </a:solidFill>
          <a:ln w="12700">
            <a:solidFill>
              <a:srgbClr val="EEF2FF"/>
            </a:solidFill>
            <a:prstDash val="solid"/>
          </a:ln>
        </p:spPr>
      </p:sp>
      <p:sp>
        <p:nvSpPr>
          <p:cNvPr id="11" name="icono-fondo"/>
          <p:cNvSpPr/>
          <p:nvPr/>
        </p:nvSpPr>
        <p:spPr>
          <a:xfrm>
            <a:off x="3639312" y="2057400"/>
            <a:ext cx="777240" cy="777240"/>
          </a:xfrm>
          <a:prstGeom prst="ellipse">
            <a:avLst/>
          </a:prstGeom>
          <a:solidFill>
            <a:srgbClr val="4F46E5"/>
          </a:solidFill>
          <a:ln w="12700">
            <a:solidFill>
              <a:srgbClr val="4F46E5"/>
            </a:solidFill>
            <a:prstDash val="solid"/>
          </a:ln>
        </p:spPr>
      </p:sp>
      <p:pic>
        <p:nvPicPr>
          <p:cNvPr id="12" name="icono" descr="preencoded.png">    </p:cNvPr>
          <p:cNvPicPr>
            <a:picLocks noChangeAspect="1"/>
          </p:cNvPicPr>
          <p:nvPr/>
        </p:nvPicPr>
        <p:blipFill>
          <a:blip r:embed="rId2"/>
          <a:stretch>
            <a:fillRect/>
          </a:stretch>
        </p:blipFill>
        <p:spPr>
          <a:xfrm>
            <a:off x="3833622" y="2251710"/>
            <a:ext cx="388620" cy="388620"/>
          </a:xfrm>
          <a:prstGeom prst="rect">
            <a:avLst/>
          </a:prstGeom>
        </p:spPr>
      </p:pic>
      <p:sp>
        <p:nvSpPr>
          <p:cNvPr id="13" name="Text 9"/>
          <p:cNvSpPr txBox="1"/>
          <p:nvPr/>
        </p:nvSpPr>
        <p:spPr>
          <a:xfrm>
            <a:off x="3639312" y="3063240"/>
            <a:ext cx="2103120" cy="548640"/>
          </a:xfrm>
          <a:prstGeom prst="rect">
            <a:avLst/>
          </a:prstGeom>
          <a:noFill/>
          <a:ln/>
        </p:spPr>
        <p:txBody>
          <a:bodyPr wrap="square" lIns="0" tIns="0" rIns="0" bIns="0" rtlCol="0" anchor="t"/>
          <a:lstStyle/>
          <a:p>
            <a:pPr indent="0" marL="0">
              <a:buNone/>
            </a:pPr>
            <a:r>
              <a:rPr lang="en-US" sz="3200" b="1" dirty="0">
                <a:solidFill>
                  <a:schemeClr val="accent1"/>
                </a:solidFill>
              </a:rPr>
              <a:t>02</a:t>
            </a:r>
            <a:endParaRPr lang="en-US" sz="3200" dirty="0"/>
          </a:p>
        </p:txBody>
      </p:sp>
      <p:sp>
        <p:nvSpPr>
          <p:cNvPr id="14" name="Text 10"/>
          <p:cNvSpPr txBox="1"/>
          <p:nvPr/>
        </p:nvSpPr>
        <p:spPr>
          <a:xfrm>
            <a:off x="3639312" y="3657600"/>
            <a:ext cx="2103120" cy="731520"/>
          </a:xfrm>
          <a:prstGeom prst="rect">
            <a:avLst/>
          </a:prstGeom>
          <a:noFill/>
          <a:ln/>
        </p:spPr>
        <p:txBody>
          <a:bodyPr wrap="square" lIns="0" tIns="0" rIns="0" bIns="0" rtlCol="0" anchor="t"/>
          <a:lstStyle/>
          <a:p>
            <a:pPr indent="0" marL="0">
              <a:buNone/>
            </a:pPr>
            <a:r>
              <a:rPr lang="en-US" sz="2000" b="1" dirty="0">
                <a:solidFill>
                  <a:schemeClr val="tx2"/>
                </a:solidFill>
              </a:rPr>
              <a:t>Funcionalidades</a:t>
            </a:r>
            <a:endParaRPr lang="en-US" sz="2000" dirty="0"/>
          </a:p>
        </p:txBody>
      </p:sp>
      <p:sp>
        <p:nvSpPr>
          <p:cNvPr id="15" name="Text 11"/>
          <p:cNvSpPr txBox="1"/>
          <p:nvPr/>
        </p:nvSpPr>
        <p:spPr>
          <a:xfrm>
            <a:off x="3639312" y="4434840"/>
            <a:ext cx="2103120" cy="1005840"/>
          </a:xfrm>
          <a:prstGeom prst="rect">
            <a:avLst/>
          </a:prstGeom>
          <a:noFill/>
          <a:ln/>
        </p:spPr>
        <p:txBody>
          <a:bodyPr wrap="square" lIns="0" tIns="0" rIns="0" bIns="0" rtlCol="0" anchor="t"/>
          <a:lstStyle/>
          <a:p>
            <a:pPr indent="0" marL="0">
              <a:buNone/>
            </a:pPr>
            <a:r>
              <a:rPr lang="en-US" sz="1500" dirty="0">
                <a:solidFill>
                  <a:schemeClr val="tx1"/>
                </a:solidFill>
              </a:rPr>
              <a:t>Del alta del evento al check-in en la puerta.</a:t>
            </a:r>
            <a:endParaRPr lang="en-US" sz="1500" dirty="0"/>
          </a:p>
        </p:txBody>
      </p:sp>
      <p:sp>
        <p:nvSpPr>
          <p:cNvPr id="16" name="tarjeta"/>
          <p:cNvSpPr/>
          <p:nvPr/>
        </p:nvSpPr>
        <p:spPr>
          <a:xfrm>
            <a:off x="6181344" y="1737360"/>
            <a:ext cx="2606040" cy="3931920"/>
          </a:xfrm>
          <a:prstGeom prst="roundRect">
            <a:avLst>
              <a:gd name="adj" fmla="val 5263"/>
            </a:avLst>
          </a:prstGeom>
          <a:solidFill>
            <a:srgbClr val="EEF2FF"/>
          </a:solidFill>
          <a:ln w="12700">
            <a:solidFill>
              <a:srgbClr val="EEF2FF"/>
            </a:solidFill>
            <a:prstDash val="solid"/>
          </a:ln>
        </p:spPr>
      </p:sp>
      <p:sp>
        <p:nvSpPr>
          <p:cNvPr id="17" name="icono-fondo"/>
          <p:cNvSpPr/>
          <p:nvPr/>
        </p:nvSpPr>
        <p:spPr>
          <a:xfrm>
            <a:off x="6455664" y="2057400"/>
            <a:ext cx="777240" cy="777240"/>
          </a:xfrm>
          <a:prstGeom prst="ellipse">
            <a:avLst/>
          </a:prstGeom>
          <a:solidFill>
            <a:srgbClr val="4F46E5"/>
          </a:solidFill>
          <a:ln w="12700">
            <a:solidFill>
              <a:srgbClr val="4F46E5"/>
            </a:solidFill>
            <a:prstDash val="solid"/>
          </a:ln>
        </p:spPr>
      </p:sp>
      <p:pic>
        <p:nvPicPr>
          <p:cNvPr id="18" name="icono" descr="preencoded.png">    </p:cNvPr>
          <p:cNvPicPr>
            <a:picLocks noChangeAspect="1"/>
          </p:cNvPicPr>
          <p:nvPr/>
        </p:nvPicPr>
        <p:blipFill>
          <a:blip r:embed="rId3"/>
          <a:stretch>
            <a:fillRect/>
          </a:stretch>
        </p:blipFill>
        <p:spPr>
          <a:xfrm>
            <a:off x="6649974" y="2251710"/>
            <a:ext cx="388620" cy="388620"/>
          </a:xfrm>
          <a:prstGeom prst="rect">
            <a:avLst/>
          </a:prstGeom>
        </p:spPr>
      </p:pic>
      <p:sp>
        <p:nvSpPr>
          <p:cNvPr id="19" name="Text 14"/>
          <p:cNvSpPr txBox="1"/>
          <p:nvPr/>
        </p:nvSpPr>
        <p:spPr>
          <a:xfrm>
            <a:off x="6455664" y="3063240"/>
            <a:ext cx="2103120" cy="548640"/>
          </a:xfrm>
          <a:prstGeom prst="rect">
            <a:avLst/>
          </a:prstGeom>
          <a:noFill/>
          <a:ln/>
        </p:spPr>
        <p:txBody>
          <a:bodyPr wrap="square" lIns="0" tIns="0" rIns="0" bIns="0" rtlCol="0" anchor="t"/>
          <a:lstStyle/>
          <a:p>
            <a:pPr indent="0" marL="0">
              <a:buNone/>
            </a:pPr>
            <a:r>
              <a:rPr lang="en-US" sz="3200" b="1" dirty="0">
                <a:solidFill>
                  <a:schemeClr val="accent1"/>
                </a:solidFill>
              </a:rPr>
              <a:t>03</a:t>
            </a:r>
            <a:endParaRPr lang="en-US" sz="3200" dirty="0"/>
          </a:p>
        </p:txBody>
      </p:sp>
      <p:sp>
        <p:nvSpPr>
          <p:cNvPr id="20" name="Text 15"/>
          <p:cNvSpPr txBox="1"/>
          <p:nvPr/>
        </p:nvSpPr>
        <p:spPr>
          <a:xfrm>
            <a:off x="6455664" y="3657600"/>
            <a:ext cx="2103120" cy="731520"/>
          </a:xfrm>
          <a:prstGeom prst="rect">
            <a:avLst/>
          </a:prstGeom>
          <a:noFill/>
          <a:ln/>
        </p:spPr>
        <p:txBody>
          <a:bodyPr wrap="square" lIns="0" tIns="0" rIns="0" bIns="0" rtlCol="0" anchor="t"/>
          <a:lstStyle/>
          <a:p>
            <a:pPr indent="0" marL="0">
              <a:buNone/>
            </a:pPr>
            <a:r>
              <a:rPr lang="en-US" sz="2000" b="1" dirty="0">
                <a:solidFill>
                  <a:schemeClr val="tx2"/>
                </a:solidFill>
              </a:rPr>
              <a:t>Conclusiones</a:t>
            </a:r>
            <a:endParaRPr lang="en-US" sz="2000" dirty="0"/>
          </a:p>
        </p:txBody>
      </p:sp>
      <p:sp>
        <p:nvSpPr>
          <p:cNvPr id="21" name="Text 16"/>
          <p:cNvSpPr txBox="1"/>
          <p:nvPr/>
        </p:nvSpPr>
        <p:spPr>
          <a:xfrm>
            <a:off x="6455664" y="4434840"/>
            <a:ext cx="2103120" cy="1005840"/>
          </a:xfrm>
          <a:prstGeom prst="rect">
            <a:avLst/>
          </a:prstGeom>
          <a:noFill/>
          <a:ln/>
        </p:spPr>
        <p:txBody>
          <a:bodyPr wrap="square" lIns="0" tIns="0" rIns="0" bIns="0" rtlCol="0" anchor="t"/>
          <a:lstStyle/>
          <a:p>
            <a:pPr indent="0" marL="0">
              <a:buNone/>
            </a:pPr>
            <a:r>
              <a:rPr lang="en-US" sz="1500" dirty="0">
                <a:solidFill>
                  <a:schemeClr val="tx1"/>
                </a:solidFill>
              </a:rPr>
              <a:t>Resultados, pruebas y lo que aprendimos.</a:t>
            </a:r>
            <a:endParaRPr lang="en-US" sz="1500" dirty="0"/>
          </a:p>
        </p:txBody>
      </p:sp>
      <p:sp>
        <p:nvSpPr>
          <p:cNvPr id="22" name="tarjeta"/>
          <p:cNvSpPr/>
          <p:nvPr/>
        </p:nvSpPr>
        <p:spPr>
          <a:xfrm>
            <a:off x="8997696" y="1737360"/>
            <a:ext cx="2606040" cy="3931920"/>
          </a:xfrm>
          <a:prstGeom prst="roundRect">
            <a:avLst>
              <a:gd name="adj" fmla="val 5263"/>
            </a:avLst>
          </a:prstGeom>
          <a:solidFill>
            <a:srgbClr val="EEF2FF"/>
          </a:solidFill>
          <a:ln w="12700">
            <a:solidFill>
              <a:srgbClr val="EEF2FF"/>
            </a:solidFill>
            <a:prstDash val="solid"/>
          </a:ln>
        </p:spPr>
      </p:sp>
      <p:sp>
        <p:nvSpPr>
          <p:cNvPr id="23" name="icono-fondo"/>
          <p:cNvSpPr/>
          <p:nvPr/>
        </p:nvSpPr>
        <p:spPr>
          <a:xfrm>
            <a:off x="9272016" y="2057400"/>
            <a:ext cx="777240" cy="777240"/>
          </a:xfrm>
          <a:prstGeom prst="ellipse">
            <a:avLst/>
          </a:prstGeom>
          <a:solidFill>
            <a:srgbClr val="4F46E5"/>
          </a:solidFill>
          <a:ln w="12700">
            <a:solidFill>
              <a:srgbClr val="4F46E5"/>
            </a:solidFill>
            <a:prstDash val="solid"/>
          </a:ln>
        </p:spPr>
      </p:sp>
      <p:pic>
        <p:nvPicPr>
          <p:cNvPr id="24" name="icono" descr="preencoded.png">    </p:cNvPr>
          <p:cNvPicPr>
            <a:picLocks noChangeAspect="1"/>
          </p:cNvPicPr>
          <p:nvPr/>
        </p:nvPicPr>
        <p:blipFill>
          <a:blip r:embed="rId4"/>
          <a:stretch>
            <a:fillRect/>
          </a:stretch>
        </p:blipFill>
        <p:spPr>
          <a:xfrm>
            <a:off x="9466326" y="2251710"/>
            <a:ext cx="388620" cy="388620"/>
          </a:xfrm>
          <a:prstGeom prst="rect">
            <a:avLst/>
          </a:prstGeom>
        </p:spPr>
      </p:pic>
      <p:sp>
        <p:nvSpPr>
          <p:cNvPr id="25" name="Text 19"/>
          <p:cNvSpPr txBox="1"/>
          <p:nvPr/>
        </p:nvSpPr>
        <p:spPr>
          <a:xfrm>
            <a:off x="9272016" y="3063240"/>
            <a:ext cx="2103120" cy="548640"/>
          </a:xfrm>
          <a:prstGeom prst="rect">
            <a:avLst/>
          </a:prstGeom>
          <a:noFill/>
          <a:ln/>
        </p:spPr>
        <p:txBody>
          <a:bodyPr wrap="square" lIns="0" tIns="0" rIns="0" bIns="0" rtlCol="0" anchor="t"/>
          <a:lstStyle/>
          <a:p>
            <a:pPr indent="0" marL="0">
              <a:buNone/>
            </a:pPr>
            <a:r>
              <a:rPr lang="en-US" sz="3200" b="1" dirty="0">
                <a:solidFill>
                  <a:schemeClr val="accent1"/>
                </a:solidFill>
              </a:rPr>
              <a:t>04</a:t>
            </a:r>
            <a:endParaRPr lang="en-US" sz="3200" dirty="0"/>
          </a:p>
        </p:txBody>
      </p:sp>
      <p:sp>
        <p:nvSpPr>
          <p:cNvPr id="26" name="Text 20"/>
          <p:cNvSpPr txBox="1"/>
          <p:nvPr/>
        </p:nvSpPr>
        <p:spPr>
          <a:xfrm>
            <a:off x="9272016" y="3657600"/>
            <a:ext cx="2103120" cy="731520"/>
          </a:xfrm>
          <a:prstGeom prst="rect">
            <a:avLst/>
          </a:prstGeom>
          <a:noFill/>
          <a:ln/>
        </p:spPr>
        <p:txBody>
          <a:bodyPr wrap="square" lIns="0" tIns="0" rIns="0" bIns="0" rtlCol="0" anchor="t"/>
          <a:lstStyle/>
          <a:p>
            <a:pPr indent="0" marL="0">
              <a:buNone/>
            </a:pPr>
            <a:r>
              <a:rPr lang="en-US" sz="2000" b="1" dirty="0">
                <a:solidFill>
                  <a:schemeClr val="tx2"/>
                </a:solidFill>
              </a:rPr>
              <a:t>Trabajo a futuro</a:t>
            </a:r>
            <a:endParaRPr lang="en-US" sz="2000" dirty="0"/>
          </a:p>
        </p:txBody>
      </p:sp>
      <p:sp>
        <p:nvSpPr>
          <p:cNvPr id="27" name="Text 21"/>
          <p:cNvSpPr txBox="1"/>
          <p:nvPr/>
        </p:nvSpPr>
        <p:spPr>
          <a:xfrm>
            <a:off x="9272016" y="4434840"/>
            <a:ext cx="2103120" cy="1005840"/>
          </a:xfrm>
          <a:prstGeom prst="rect">
            <a:avLst/>
          </a:prstGeom>
          <a:noFill/>
          <a:ln/>
        </p:spPr>
        <p:txBody>
          <a:bodyPr wrap="square" lIns="0" tIns="0" rIns="0" bIns="0" rtlCol="0" anchor="t"/>
          <a:lstStyle/>
          <a:p>
            <a:pPr indent="0" marL="0">
              <a:buNone/>
            </a:pPr>
            <a:r>
              <a:rPr lang="en-US" sz="1500" dirty="0">
                <a:solidFill>
                  <a:schemeClr val="tx1"/>
                </a:solidFill>
              </a:rPr>
              <a:t>Producción, página principal y reservas.</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320040"/>
          </a:xfrm>
          <a:prstGeom prst="rect">
            <a:avLst/>
          </a:prstGeom>
          <a:noFill/>
          <a:ln/>
        </p:spPr>
        <p:txBody>
          <a:bodyPr wrap="square" lIns="0" tIns="0" rIns="0" bIns="0" rtlCol="0"/>
          <a:lstStyle/>
          <a:p>
            <a:pPr indent="0" marL="0">
              <a:buNone/>
            </a:pPr>
            <a:r>
              <a:rPr lang="en-US" sz="1200" b="1" spc="200" kern="0" dirty="0">
                <a:solidFill>
                  <a:schemeClr val="accent1"/>
                </a:solidFill>
              </a:rPr>
              <a:t>01 · TECNOLOGÍAS Y ARQUITECTURA</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400" b="1" dirty="0">
                <a:solidFill>
                  <a:schemeClr val="tx2"/>
                </a:solidFill>
              </a:rPr>
              <a:t>Un stack conocido, en dos contenedores</a:t>
            </a:r>
            <a:endParaRPr lang="en-US" sz="3400" dirty="0"/>
          </a:p>
        </p:txBody>
      </p:sp>
      <p:sp>
        <p:nvSpPr>
          <p:cNvPr id="4" name="tarjeta"/>
          <p:cNvSpPr/>
          <p:nvPr/>
        </p:nvSpPr>
        <p:spPr>
          <a:xfrm>
            <a:off x="548640" y="1600200"/>
            <a:ext cx="3520440" cy="1920240"/>
          </a:xfrm>
          <a:prstGeom prst="roundRect">
            <a:avLst>
              <a:gd name="adj" fmla="val 5714"/>
            </a:avLst>
          </a:prstGeom>
          <a:solidFill>
            <a:srgbClr val="FFFFFF"/>
          </a:solidFill>
          <a:ln w="12700">
            <a:solidFill>
              <a:srgbClr val="E5E7EB"/>
            </a:solidFill>
            <a:prstDash val="solid"/>
          </a:ln>
          <a:effectLst>
            <a:outerShdw sx="100000" sy="100000" kx="0" ky="0" algn="bl" rotWithShape="0" blurRad="101600" dist="38100" dir="5400000">
              <a:srgbClr val="000000">
                <a:alpha val="18000"/>
              </a:srgbClr>
            </a:outerShdw>
          </a:effectLst>
        </p:spPr>
      </p:sp>
      <p:sp>
        <p:nvSpPr>
          <p:cNvPr id="5" name="icono-fondo"/>
          <p:cNvSpPr/>
          <p:nvPr/>
        </p:nvSpPr>
        <p:spPr>
          <a:xfrm>
            <a:off x="822960" y="1874520"/>
            <a:ext cx="640080" cy="640080"/>
          </a:xfrm>
          <a:prstGeom prst="ellipse">
            <a:avLst/>
          </a:prstGeom>
          <a:solidFill>
            <a:srgbClr val="4F46E5"/>
          </a:solidFill>
          <a:ln w="12700">
            <a:solidFill>
              <a:srgbClr val="4F46E5"/>
            </a:solidFill>
            <a:prstDash val="solid"/>
          </a:ln>
        </p:spPr>
      </p:sp>
      <p:pic>
        <p:nvPicPr>
          <p:cNvPr id="6" name="icono" descr="preencoded.png">    </p:cNvPr>
          <p:cNvPicPr>
            <a:picLocks noChangeAspect="1"/>
          </p:cNvPicPr>
          <p:nvPr/>
        </p:nvPicPr>
        <p:blipFill>
          <a:blip r:embed="rId1"/>
          <a:stretch>
            <a:fillRect/>
          </a:stretch>
        </p:blipFill>
        <p:spPr>
          <a:xfrm>
            <a:off x="982980" y="2034540"/>
            <a:ext cx="320040" cy="320040"/>
          </a:xfrm>
          <a:prstGeom prst="rect">
            <a:avLst/>
          </a:prstGeom>
        </p:spPr>
      </p:pic>
      <p:sp>
        <p:nvSpPr>
          <p:cNvPr id="7" name="Text 4"/>
          <p:cNvSpPr txBox="1"/>
          <p:nvPr/>
        </p:nvSpPr>
        <p:spPr>
          <a:xfrm>
            <a:off x="1645920" y="1947672"/>
            <a:ext cx="2286000" cy="457200"/>
          </a:xfrm>
          <a:prstGeom prst="rect">
            <a:avLst/>
          </a:prstGeom>
          <a:noFill/>
          <a:ln/>
        </p:spPr>
        <p:txBody>
          <a:bodyPr wrap="square" lIns="0" tIns="0" rIns="0" bIns="0" rtlCol="0" anchor="ctr"/>
          <a:lstStyle/>
          <a:p>
            <a:pPr indent="0" marL="0">
              <a:buNone/>
            </a:pPr>
            <a:r>
              <a:rPr lang="en-US" sz="2000" b="1" dirty="0">
                <a:solidFill>
                  <a:schemeClr val="tx2"/>
                </a:solidFill>
              </a:rPr>
              <a:t>Backend</a:t>
            </a:r>
            <a:endParaRPr lang="en-US" sz="2000" dirty="0"/>
          </a:p>
        </p:txBody>
      </p:sp>
      <p:sp>
        <p:nvSpPr>
          <p:cNvPr id="8" name="Text 5"/>
          <p:cNvSpPr txBox="1"/>
          <p:nvPr/>
        </p:nvSpPr>
        <p:spPr>
          <a:xfrm>
            <a:off x="822960" y="2651760"/>
            <a:ext cx="3017520" cy="777240"/>
          </a:xfrm>
          <a:prstGeom prst="rect">
            <a:avLst/>
          </a:prstGeom>
          <a:noFill/>
          <a:ln/>
        </p:spPr>
        <p:txBody>
          <a:bodyPr wrap="square" lIns="0" tIns="0" rIns="0" bIns="0" rtlCol="0" anchor="t"/>
          <a:lstStyle/>
          <a:p>
            <a:pPr indent="0" marL="0">
              <a:buNone/>
            </a:pPr>
            <a:r>
              <a:rPr lang="en-US" sz="1500" dirty="0">
                <a:solidFill>
                  <a:schemeClr val="tx1"/>
                </a:solidFill>
              </a:rPr>
              <a:t>Django 6 + Django REST Framework: API REST en seis aplicaciones.</a:t>
            </a:r>
            <a:endParaRPr lang="en-US" sz="1500" dirty="0"/>
          </a:p>
        </p:txBody>
      </p:sp>
      <p:sp>
        <p:nvSpPr>
          <p:cNvPr id="9" name="tarjeta"/>
          <p:cNvSpPr/>
          <p:nvPr/>
        </p:nvSpPr>
        <p:spPr>
          <a:xfrm>
            <a:off x="4297680" y="1600200"/>
            <a:ext cx="3520440" cy="1920240"/>
          </a:xfrm>
          <a:prstGeom prst="roundRect">
            <a:avLst>
              <a:gd name="adj" fmla="val 5714"/>
            </a:avLst>
          </a:prstGeom>
          <a:solidFill>
            <a:srgbClr val="FFFFFF"/>
          </a:solidFill>
          <a:ln w="12700">
            <a:solidFill>
              <a:srgbClr val="E5E7EB"/>
            </a:solidFill>
            <a:prstDash val="solid"/>
          </a:ln>
          <a:effectLst>
            <a:outerShdw sx="100000" sy="100000" kx="0" ky="0" algn="bl" rotWithShape="0" blurRad="101600" dist="38100" dir="5400000">
              <a:srgbClr val="000000">
                <a:alpha val="18000"/>
              </a:srgbClr>
            </a:outerShdw>
          </a:effectLst>
        </p:spPr>
      </p:sp>
      <p:sp>
        <p:nvSpPr>
          <p:cNvPr id="10" name="icono-fondo"/>
          <p:cNvSpPr/>
          <p:nvPr/>
        </p:nvSpPr>
        <p:spPr>
          <a:xfrm>
            <a:off x="4572000" y="1874520"/>
            <a:ext cx="640080" cy="640080"/>
          </a:xfrm>
          <a:prstGeom prst="ellipse">
            <a:avLst/>
          </a:prstGeom>
          <a:solidFill>
            <a:srgbClr val="4F46E5"/>
          </a:solidFill>
          <a:ln w="12700">
            <a:solidFill>
              <a:srgbClr val="4F46E5"/>
            </a:solidFill>
            <a:prstDash val="solid"/>
          </a:ln>
        </p:spPr>
      </p:sp>
      <p:pic>
        <p:nvPicPr>
          <p:cNvPr id="11" name="icono" descr="preencoded.png">    </p:cNvPr>
          <p:cNvPicPr>
            <a:picLocks noChangeAspect="1"/>
          </p:cNvPicPr>
          <p:nvPr/>
        </p:nvPicPr>
        <p:blipFill>
          <a:blip r:embed="rId2"/>
          <a:stretch>
            <a:fillRect/>
          </a:stretch>
        </p:blipFill>
        <p:spPr>
          <a:xfrm>
            <a:off x="4732020" y="2034540"/>
            <a:ext cx="320040" cy="320040"/>
          </a:xfrm>
          <a:prstGeom prst="rect">
            <a:avLst/>
          </a:prstGeom>
        </p:spPr>
      </p:pic>
      <p:sp>
        <p:nvSpPr>
          <p:cNvPr id="12" name="Text 8"/>
          <p:cNvSpPr txBox="1"/>
          <p:nvPr/>
        </p:nvSpPr>
        <p:spPr>
          <a:xfrm>
            <a:off x="5394960" y="1947672"/>
            <a:ext cx="2286000" cy="457200"/>
          </a:xfrm>
          <a:prstGeom prst="rect">
            <a:avLst/>
          </a:prstGeom>
          <a:noFill/>
          <a:ln/>
        </p:spPr>
        <p:txBody>
          <a:bodyPr wrap="square" lIns="0" tIns="0" rIns="0" bIns="0" rtlCol="0" anchor="ctr"/>
          <a:lstStyle/>
          <a:p>
            <a:pPr indent="0" marL="0">
              <a:buNone/>
            </a:pPr>
            <a:r>
              <a:rPr lang="en-US" sz="2000" b="1" dirty="0">
                <a:solidFill>
                  <a:schemeClr val="tx2"/>
                </a:solidFill>
              </a:rPr>
              <a:t>Autenticación</a:t>
            </a:r>
            <a:endParaRPr lang="en-US" sz="2000" dirty="0"/>
          </a:p>
        </p:txBody>
      </p:sp>
      <p:sp>
        <p:nvSpPr>
          <p:cNvPr id="13" name="Text 9"/>
          <p:cNvSpPr txBox="1"/>
          <p:nvPr/>
        </p:nvSpPr>
        <p:spPr>
          <a:xfrm>
            <a:off x="4572000" y="2651760"/>
            <a:ext cx="3017520" cy="777240"/>
          </a:xfrm>
          <a:prstGeom prst="rect">
            <a:avLst/>
          </a:prstGeom>
          <a:noFill/>
          <a:ln/>
        </p:spPr>
        <p:txBody>
          <a:bodyPr wrap="square" lIns="0" tIns="0" rIns="0" bIns="0" rtlCol="0" anchor="t"/>
          <a:lstStyle/>
          <a:p>
            <a:pPr indent="0" marL="0">
              <a:buNone/>
            </a:pPr>
            <a:r>
              <a:rPr lang="en-US" sz="1500" dirty="0">
                <a:solidFill>
                  <a:schemeClr val="tx1"/>
                </a:solidFill>
              </a:rPr>
              <a:t>JWT con Simple JWT: acceso de 30 min y renovación automática.</a:t>
            </a:r>
            <a:endParaRPr lang="en-US" sz="1500" dirty="0"/>
          </a:p>
        </p:txBody>
      </p:sp>
      <p:sp>
        <p:nvSpPr>
          <p:cNvPr id="14" name="tarjeta"/>
          <p:cNvSpPr/>
          <p:nvPr/>
        </p:nvSpPr>
        <p:spPr>
          <a:xfrm>
            <a:off x="8046720" y="1600200"/>
            <a:ext cx="3520440" cy="1920240"/>
          </a:xfrm>
          <a:prstGeom prst="roundRect">
            <a:avLst>
              <a:gd name="adj" fmla="val 5714"/>
            </a:avLst>
          </a:prstGeom>
          <a:solidFill>
            <a:srgbClr val="FFFFFF"/>
          </a:solidFill>
          <a:ln w="12700">
            <a:solidFill>
              <a:srgbClr val="E5E7EB"/>
            </a:solidFill>
            <a:prstDash val="solid"/>
          </a:ln>
          <a:effectLst>
            <a:outerShdw sx="100000" sy="100000" kx="0" ky="0" algn="bl" rotWithShape="0" blurRad="101600" dist="38100" dir="5400000">
              <a:srgbClr val="000000">
                <a:alpha val="18000"/>
              </a:srgbClr>
            </a:outerShdw>
          </a:effectLst>
        </p:spPr>
      </p:sp>
      <p:sp>
        <p:nvSpPr>
          <p:cNvPr id="15" name="icono-fondo"/>
          <p:cNvSpPr/>
          <p:nvPr/>
        </p:nvSpPr>
        <p:spPr>
          <a:xfrm>
            <a:off x="8321040" y="1874520"/>
            <a:ext cx="640080" cy="640080"/>
          </a:xfrm>
          <a:prstGeom prst="ellipse">
            <a:avLst/>
          </a:prstGeom>
          <a:solidFill>
            <a:srgbClr val="4F46E5"/>
          </a:solidFill>
          <a:ln w="12700">
            <a:solidFill>
              <a:srgbClr val="4F46E5"/>
            </a:solidFill>
            <a:prstDash val="solid"/>
          </a:ln>
        </p:spPr>
      </p:sp>
      <p:pic>
        <p:nvPicPr>
          <p:cNvPr id="16" name="icono" descr="preencoded.png">    </p:cNvPr>
          <p:cNvPicPr>
            <a:picLocks noChangeAspect="1"/>
          </p:cNvPicPr>
          <p:nvPr/>
        </p:nvPicPr>
        <p:blipFill>
          <a:blip r:embed="rId3"/>
          <a:stretch>
            <a:fillRect/>
          </a:stretch>
        </p:blipFill>
        <p:spPr>
          <a:xfrm>
            <a:off x="8481060" y="2034540"/>
            <a:ext cx="320040" cy="320040"/>
          </a:xfrm>
          <a:prstGeom prst="rect">
            <a:avLst/>
          </a:prstGeom>
        </p:spPr>
      </p:pic>
      <p:sp>
        <p:nvSpPr>
          <p:cNvPr id="17" name="Text 12"/>
          <p:cNvSpPr txBox="1"/>
          <p:nvPr/>
        </p:nvSpPr>
        <p:spPr>
          <a:xfrm>
            <a:off x="9144000" y="1947672"/>
            <a:ext cx="2286000" cy="457200"/>
          </a:xfrm>
          <a:prstGeom prst="rect">
            <a:avLst/>
          </a:prstGeom>
          <a:noFill/>
          <a:ln/>
        </p:spPr>
        <p:txBody>
          <a:bodyPr wrap="square" lIns="0" tIns="0" rIns="0" bIns="0" rtlCol="0" anchor="ctr"/>
          <a:lstStyle/>
          <a:p>
            <a:pPr indent="0" marL="0">
              <a:buNone/>
            </a:pPr>
            <a:r>
              <a:rPr lang="en-US" sz="2000" b="1" dirty="0">
                <a:solidFill>
                  <a:schemeClr val="tx2"/>
                </a:solidFill>
              </a:rPr>
              <a:t>Frontend</a:t>
            </a:r>
            <a:endParaRPr lang="en-US" sz="2000" dirty="0"/>
          </a:p>
        </p:txBody>
      </p:sp>
      <p:sp>
        <p:nvSpPr>
          <p:cNvPr id="18" name="Text 13"/>
          <p:cNvSpPr txBox="1"/>
          <p:nvPr/>
        </p:nvSpPr>
        <p:spPr>
          <a:xfrm>
            <a:off x="8321040" y="2651760"/>
            <a:ext cx="3017520" cy="777240"/>
          </a:xfrm>
          <a:prstGeom prst="rect">
            <a:avLst/>
          </a:prstGeom>
          <a:noFill/>
          <a:ln/>
        </p:spPr>
        <p:txBody>
          <a:bodyPr wrap="square" lIns="0" tIns="0" rIns="0" bIns="0" rtlCol="0" anchor="t"/>
          <a:lstStyle/>
          <a:p>
            <a:pPr indent="0" marL="0">
              <a:buNone/>
            </a:pPr>
            <a:r>
              <a:rPr lang="en-US" sz="1500" dirty="0">
                <a:solidFill>
                  <a:schemeClr val="tx1"/>
                </a:solidFill>
              </a:rPr>
              <a:t>React 19 + Vite: aplicación de una página, por HTTPS.</a:t>
            </a:r>
            <a:endParaRPr lang="en-US" sz="1500" dirty="0"/>
          </a:p>
        </p:txBody>
      </p:sp>
      <p:sp>
        <p:nvSpPr>
          <p:cNvPr id="19" name="tarjeta"/>
          <p:cNvSpPr/>
          <p:nvPr/>
        </p:nvSpPr>
        <p:spPr>
          <a:xfrm>
            <a:off x="548640" y="3749040"/>
            <a:ext cx="3520440" cy="1920240"/>
          </a:xfrm>
          <a:prstGeom prst="roundRect">
            <a:avLst>
              <a:gd name="adj" fmla="val 5714"/>
            </a:avLst>
          </a:prstGeom>
          <a:solidFill>
            <a:srgbClr val="FFFFFF"/>
          </a:solidFill>
          <a:ln w="12700">
            <a:solidFill>
              <a:srgbClr val="E5E7EB"/>
            </a:solidFill>
            <a:prstDash val="solid"/>
          </a:ln>
          <a:effectLst>
            <a:outerShdw sx="100000" sy="100000" kx="0" ky="0" algn="bl" rotWithShape="0" blurRad="101600" dist="38100" dir="5400000">
              <a:srgbClr val="000000">
                <a:alpha val="18000"/>
              </a:srgbClr>
            </a:outerShdw>
          </a:effectLst>
        </p:spPr>
      </p:sp>
      <p:sp>
        <p:nvSpPr>
          <p:cNvPr id="20" name="icono-fondo"/>
          <p:cNvSpPr/>
          <p:nvPr/>
        </p:nvSpPr>
        <p:spPr>
          <a:xfrm>
            <a:off x="822960" y="4023360"/>
            <a:ext cx="640080" cy="640080"/>
          </a:xfrm>
          <a:prstGeom prst="ellipse">
            <a:avLst/>
          </a:prstGeom>
          <a:solidFill>
            <a:srgbClr val="4F46E5"/>
          </a:solidFill>
          <a:ln w="12700">
            <a:solidFill>
              <a:srgbClr val="4F46E5"/>
            </a:solidFill>
            <a:prstDash val="solid"/>
          </a:ln>
        </p:spPr>
      </p:sp>
      <p:pic>
        <p:nvPicPr>
          <p:cNvPr id="21" name="icono" descr="preencoded.png">    </p:cNvPr>
          <p:cNvPicPr>
            <a:picLocks noChangeAspect="1"/>
          </p:cNvPicPr>
          <p:nvPr/>
        </p:nvPicPr>
        <p:blipFill>
          <a:blip r:embed="rId4"/>
          <a:stretch>
            <a:fillRect/>
          </a:stretch>
        </p:blipFill>
        <p:spPr>
          <a:xfrm>
            <a:off x="982980" y="4183380"/>
            <a:ext cx="320040" cy="320040"/>
          </a:xfrm>
          <a:prstGeom prst="rect">
            <a:avLst/>
          </a:prstGeom>
        </p:spPr>
      </p:pic>
      <p:sp>
        <p:nvSpPr>
          <p:cNvPr id="22" name="Text 16"/>
          <p:cNvSpPr txBox="1"/>
          <p:nvPr/>
        </p:nvSpPr>
        <p:spPr>
          <a:xfrm>
            <a:off x="1645920" y="4096512"/>
            <a:ext cx="2286000" cy="457200"/>
          </a:xfrm>
          <a:prstGeom prst="rect">
            <a:avLst/>
          </a:prstGeom>
          <a:noFill/>
          <a:ln/>
        </p:spPr>
        <p:txBody>
          <a:bodyPr wrap="square" lIns="0" tIns="0" rIns="0" bIns="0" rtlCol="0" anchor="ctr"/>
          <a:lstStyle/>
          <a:p>
            <a:pPr indent="0" marL="0">
              <a:buNone/>
            </a:pPr>
            <a:r>
              <a:rPr lang="en-US" sz="2000" b="1" dirty="0">
                <a:solidFill>
                  <a:schemeClr val="tx2"/>
                </a:solidFill>
              </a:rPr>
              <a:t>Base de datos</a:t>
            </a:r>
            <a:endParaRPr lang="en-US" sz="2000" dirty="0"/>
          </a:p>
        </p:txBody>
      </p:sp>
      <p:sp>
        <p:nvSpPr>
          <p:cNvPr id="23" name="Text 17"/>
          <p:cNvSpPr txBox="1"/>
          <p:nvPr/>
        </p:nvSpPr>
        <p:spPr>
          <a:xfrm>
            <a:off x="822960" y="4800600"/>
            <a:ext cx="3017520" cy="777240"/>
          </a:xfrm>
          <a:prstGeom prst="rect">
            <a:avLst/>
          </a:prstGeom>
          <a:noFill/>
          <a:ln/>
        </p:spPr>
        <p:txBody>
          <a:bodyPr wrap="square" lIns="0" tIns="0" rIns="0" bIns="0" rtlCol="0" anchor="t"/>
          <a:lstStyle/>
          <a:p>
            <a:pPr indent="0" marL="0">
              <a:buNone/>
            </a:pPr>
            <a:r>
              <a:rPr lang="en-US" sz="1500" dirty="0">
                <a:solidFill>
                  <a:schemeClr val="tx1"/>
                </a:solidFill>
              </a:rPr>
              <a:t>SQLite: suficiente para el alcance; PostgreSQL al publicar.</a:t>
            </a:r>
            <a:endParaRPr lang="en-US" sz="1500" dirty="0"/>
          </a:p>
        </p:txBody>
      </p:sp>
      <p:sp>
        <p:nvSpPr>
          <p:cNvPr id="24" name="tarjeta"/>
          <p:cNvSpPr/>
          <p:nvPr/>
        </p:nvSpPr>
        <p:spPr>
          <a:xfrm>
            <a:off x="4297680" y="3749040"/>
            <a:ext cx="3520440" cy="1920240"/>
          </a:xfrm>
          <a:prstGeom prst="roundRect">
            <a:avLst>
              <a:gd name="adj" fmla="val 5714"/>
            </a:avLst>
          </a:prstGeom>
          <a:solidFill>
            <a:srgbClr val="FFFFFF"/>
          </a:solidFill>
          <a:ln w="12700">
            <a:solidFill>
              <a:srgbClr val="E5E7EB"/>
            </a:solidFill>
            <a:prstDash val="solid"/>
          </a:ln>
          <a:effectLst>
            <a:outerShdw sx="100000" sy="100000" kx="0" ky="0" algn="bl" rotWithShape="0" blurRad="101600" dist="38100" dir="5400000">
              <a:srgbClr val="000000">
                <a:alpha val="18000"/>
              </a:srgbClr>
            </a:outerShdw>
          </a:effectLst>
        </p:spPr>
      </p:sp>
      <p:sp>
        <p:nvSpPr>
          <p:cNvPr id="25" name="icono-fondo"/>
          <p:cNvSpPr/>
          <p:nvPr/>
        </p:nvSpPr>
        <p:spPr>
          <a:xfrm>
            <a:off x="4572000" y="4023360"/>
            <a:ext cx="640080" cy="640080"/>
          </a:xfrm>
          <a:prstGeom prst="ellipse">
            <a:avLst/>
          </a:prstGeom>
          <a:solidFill>
            <a:srgbClr val="4F46E5"/>
          </a:solidFill>
          <a:ln w="12700">
            <a:solidFill>
              <a:srgbClr val="4F46E5"/>
            </a:solidFill>
            <a:prstDash val="solid"/>
          </a:ln>
        </p:spPr>
      </p:sp>
      <p:pic>
        <p:nvPicPr>
          <p:cNvPr id="26" name="icono" descr="preencoded.png">    </p:cNvPr>
          <p:cNvPicPr>
            <a:picLocks noChangeAspect="1"/>
          </p:cNvPicPr>
          <p:nvPr/>
        </p:nvPicPr>
        <p:blipFill>
          <a:blip r:embed="rId5"/>
          <a:stretch>
            <a:fillRect/>
          </a:stretch>
        </p:blipFill>
        <p:spPr>
          <a:xfrm>
            <a:off x="4732020" y="4183380"/>
            <a:ext cx="320040" cy="320040"/>
          </a:xfrm>
          <a:prstGeom prst="rect">
            <a:avLst/>
          </a:prstGeom>
        </p:spPr>
      </p:pic>
      <p:sp>
        <p:nvSpPr>
          <p:cNvPr id="27" name="Text 20"/>
          <p:cNvSpPr txBox="1"/>
          <p:nvPr/>
        </p:nvSpPr>
        <p:spPr>
          <a:xfrm>
            <a:off x="5394960" y="4096512"/>
            <a:ext cx="2286000" cy="457200"/>
          </a:xfrm>
          <a:prstGeom prst="rect">
            <a:avLst/>
          </a:prstGeom>
          <a:noFill/>
          <a:ln/>
        </p:spPr>
        <p:txBody>
          <a:bodyPr wrap="square" lIns="0" tIns="0" rIns="0" bIns="0" rtlCol="0" anchor="ctr"/>
          <a:lstStyle/>
          <a:p>
            <a:pPr indent="0" marL="0">
              <a:buNone/>
            </a:pPr>
            <a:r>
              <a:rPr lang="en-US" sz="2000" b="1" dirty="0">
                <a:solidFill>
                  <a:schemeClr val="tx2"/>
                </a:solidFill>
              </a:rPr>
              <a:t>Infraestructura</a:t>
            </a:r>
            <a:endParaRPr lang="en-US" sz="2000" dirty="0"/>
          </a:p>
        </p:txBody>
      </p:sp>
      <p:sp>
        <p:nvSpPr>
          <p:cNvPr id="28" name="Text 21"/>
          <p:cNvSpPr txBox="1"/>
          <p:nvPr/>
        </p:nvSpPr>
        <p:spPr>
          <a:xfrm>
            <a:off x="4572000" y="4800600"/>
            <a:ext cx="3017520" cy="777240"/>
          </a:xfrm>
          <a:prstGeom prst="rect">
            <a:avLst/>
          </a:prstGeom>
          <a:noFill/>
          <a:ln/>
        </p:spPr>
        <p:txBody>
          <a:bodyPr wrap="square" lIns="0" tIns="0" rIns="0" bIns="0" rtlCol="0" anchor="t"/>
          <a:lstStyle/>
          <a:p>
            <a:pPr indent="0" marL="0">
              <a:buNone/>
            </a:pPr>
            <a:r>
              <a:rPr lang="en-US" sz="1500" dirty="0">
                <a:solidFill>
                  <a:schemeClr val="tx1"/>
                </a:solidFill>
              </a:rPr>
              <a:t>Docker Compose: backend y frontend con un solo comando.</a:t>
            </a:r>
            <a:endParaRPr lang="en-US" sz="1500" dirty="0"/>
          </a:p>
        </p:txBody>
      </p:sp>
      <p:sp>
        <p:nvSpPr>
          <p:cNvPr id="29" name="tarjeta"/>
          <p:cNvSpPr/>
          <p:nvPr/>
        </p:nvSpPr>
        <p:spPr>
          <a:xfrm>
            <a:off x="8046720" y="3749040"/>
            <a:ext cx="3520440" cy="1920240"/>
          </a:xfrm>
          <a:prstGeom prst="roundRect">
            <a:avLst>
              <a:gd name="adj" fmla="val 5714"/>
            </a:avLst>
          </a:prstGeom>
          <a:solidFill>
            <a:srgbClr val="FFFFFF"/>
          </a:solidFill>
          <a:ln w="12700">
            <a:solidFill>
              <a:srgbClr val="E5E7EB"/>
            </a:solidFill>
            <a:prstDash val="solid"/>
          </a:ln>
          <a:effectLst>
            <a:outerShdw sx="100000" sy="100000" kx="0" ky="0" algn="bl" rotWithShape="0" blurRad="101600" dist="38100" dir="5400000">
              <a:srgbClr val="000000">
                <a:alpha val="18000"/>
              </a:srgbClr>
            </a:outerShdw>
          </a:effectLst>
        </p:spPr>
      </p:sp>
      <p:sp>
        <p:nvSpPr>
          <p:cNvPr id="30" name="icono-fondo"/>
          <p:cNvSpPr/>
          <p:nvPr/>
        </p:nvSpPr>
        <p:spPr>
          <a:xfrm>
            <a:off x="8321040" y="4023360"/>
            <a:ext cx="640080" cy="640080"/>
          </a:xfrm>
          <a:prstGeom prst="ellipse">
            <a:avLst/>
          </a:prstGeom>
          <a:solidFill>
            <a:srgbClr val="4F46E5"/>
          </a:solidFill>
          <a:ln w="12700">
            <a:solidFill>
              <a:srgbClr val="4F46E5"/>
            </a:solidFill>
            <a:prstDash val="solid"/>
          </a:ln>
        </p:spPr>
      </p:sp>
      <p:pic>
        <p:nvPicPr>
          <p:cNvPr id="31" name="icono" descr="preencoded.png">    </p:cNvPr>
          <p:cNvPicPr>
            <a:picLocks noChangeAspect="1"/>
          </p:cNvPicPr>
          <p:nvPr/>
        </p:nvPicPr>
        <p:blipFill>
          <a:blip r:embed="rId6"/>
          <a:stretch>
            <a:fillRect/>
          </a:stretch>
        </p:blipFill>
        <p:spPr>
          <a:xfrm>
            <a:off x="8481060" y="4183380"/>
            <a:ext cx="320040" cy="320040"/>
          </a:xfrm>
          <a:prstGeom prst="rect">
            <a:avLst/>
          </a:prstGeom>
        </p:spPr>
      </p:pic>
      <p:sp>
        <p:nvSpPr>
          <p:cNvPr id="32" name="Text 24"/>
          <p:cNvSpPr txBox="1"/>
          <p:nvPr/>
        </p:nvSpPr>
        <p:spPr>
          <a:xfrm>
            <a:off x="9144000" y="4096512"/>
            <a:ext cx="2286000" cy="457200"/>
          </a:xfrm>
          <a:prstGeom prst="rect">
            <a:avLst/>
          </a:prstGeom>
          <a:noFill/>
          <a:ln/>
        </p:spPr>
        <p:txBody>
          <a:bodyPr wrap="square" lIns="0" tIns="0" rIns="0" bIns="0" rtlCol="0" anchor="ctr"/>
          <a:lstStyle/>
          <a:p>
            <a:pPr indent="0" marL="0">
              <a:buNone/>
            </a:pPr>
            <a:r>
              <a:rPr lang="en-US" sz="2000" b="1" dirty="0">
                <a:solidFill>
                  <a:schemeClr val="tx2"/>
                </a:solidFill>
              </a:rPr>
              <a:t>Pruebas</a:t>
            </a:r>
            <a:endParaRPr lang="en-US" sz="2000" dirty="0"/>
          </a:p>
        </p:txBody>
      </p:sp>
      <p:sp>
        <p:nvSpPr>
          <p:cNvPr id="33" name="Text 25"/>
          <p:cNvSpPr txBox="1"/>
          <p:nvPr/>
        </p:nvSpPr>
        <p:spPr>
          <a:xfrm>
            <a:off x="8321040" y="4800600"/>
            <a:ext cx="3017520" cy="777240"/>
          </a:xfrm>
          <a:prstGeom prst="rect">
            <a:avLst/>
          </a:prstGeom>
          <a:noFill/>
          <a:ln/>
        </p:spPr>
        <p:txBody>
          <a:bodyPr wrap="square" lIns="0" tIns="0" rIns="0" bIns="0" rtlCol="0" anchor="t"/>
          <a:lstStyle/>
          <a:p>
            <a:pPr indent="0" marL="0">
              <a:buNone/>
            </a:pPr>
            <a:r>
              <a:rPr lang="en-US" sz="1500" dirty="0">
                <a:solidFill>
                  <a:schemeClr val="tx1"/>
                </a:solidFill>
              </a:rPr>
              <a:t>Django TestCase y Playwright: 194 pruebas automatizadas.</a:t>
            </a:r>
            <a:endParaRPr lang="en-US" sz="1500" dirty="0"/>
          </a:p>
        </p:txBody>
      </p:sp>
      <p:sp>
        <p:nvSpPr>
          <p:cNvPr id="34" name="Text 26"/>
          <p:cNvSpPr txBox="1"/>
          <p:nvPr/>
        </p:nvSpPr>
        <p:spPr>
          <a:xfrm>
            <a:off x="548640" y="5943600"/>
            <a:ext cx="11064240" cy="320040"/>
          </a:xfrm>
          <a:prstGeom prst="rect">
            <a:avLst/>
          </a:prstGeom>
          <a:noFill/>
          <a:ln/>
        </p:spPr>
        <p:txBody>
          <a:bodyPr wrap="square" lIns="0" tIns="0" rIns="0" bIns="0" rtlCol="0" anchor="t"/>
          <a:lstStyle/>
          <a:p>
            <a:pPr indent="0" marL="0">
              <a:buNone/>
            </a:pPr>
            <a:r>
              <a:rPr lang="en-US" sz="1200" i="1" dirty="0">
                <a:solidFill>
                  <a:srgbClr val="6B7280"/>
                </a:solidFill>
              </a:rPr>
              <a:t>Librerías clave: qrcode y jsQR (generar y leer QR) · openpyxl (reportes en Excel) · Axios · React Router</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320040"/>
          </a:xfrm>
          <a:prstGeom prst="rect">
            <a:avLst/>
          </a:prstGeom>
          <a:noFill/>
          <a:ln/>
        </p:spPr>
        <p:txBody>
          <a:bodyPr wrap="square" lIns="0" tIns="0" rIns="0" bIns="0" rtlCol="0"/>
          <a:lstStyle/>
          <a:p>
            <a:pPr indent="0" marL="0">
              <a:buNone/>
            </a:pPr>
            <a:r>
              <a:rPr lang="en-US" sz="1200" b="1" spc="200" kern="0" dirty="0">
                <a:solidFill>
                  <a:schemeClr val="accent1"/>
                </a:solidFill>
              </a:rPr>
              <a:t>01 · TECNOLOGÍAS Y ARQUITECTURA</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400" b="1" dirty="0">
                <a:solidFill>
                  <a:schemeClr val="tx2"/>
                </a:solidFill>
              </a:rPr>
              <a:t>Cómo viaja un pedido</a:t>
            </a:r>
            <a:endParaRPr lang="en-US" sz="3400" dirty="0"/>
          </a:p>
        </p:txBody>
      </p:sp>
      <p:pic>
        <p:nvPicPr>
          <p:cNvPr id="4" name="diagrama-arquitectura" descr="/tmp/claude-0/ppt/img/arquitectura.png">    </p:cNvPr>
          <p:cNvPicPr>
            <a:picLocks noChangeAspect="1"/>
          </p:cNvPicPr>
          <p:nvPr/>
        </p:nvPicPr>
        <p:blipFill>
          <a:blip r:embed="rId1"/>
          <a:stretch>
            <a:fillRect/>
          </a:stretch>
        </p:blipFill>
        <p:spPr>
          <a:xfrm>
            <a:off x="731520" y="1463040"/>
            <a:ext cx="4534985" cy="4800600"/>
          </a:xfrm>
          <a:prstGeom prst="rect">
            <a:avLst/>
          </a:prstGeom>
        </p:spPr>
      </p:pic>
      <p:sp>
        <p:nvSpPr>
          <p:cNvPr id="5" name="icono-fondo"/>
          <p:cNvSpPr/>
          <p:nvPr/>
        </p:nvSpPr>
        <p:spPr>
          <a:xfrm>
            <a:off x="6172200" y="1600200"/>
            <a:ext cx="594360" cy="594360"/>
          </a:xfrm>
          <a:prstGeom prst="ellipse">
            <a:avLst/>
          </a:prstGeom>
          <a:solidFill>
            <a:srgbClr val="4F46E5"/>
          </a:solidFill>
          <a:ln w="12700">
            <a:solidFill>
              <a:srgbClr val="4F46E5"/>
            </a:solidFill>
            <a:prstDash val="solid"/>
          </a:ln>
        </p:spPr>
      </p:sp>
      <p:pic>
        <p:nvPicPr>
          <p:cNvPr id="6" name="icono" descr="preencoded.png">    </p:cNvPr>
          <p:cNvPicPr>
            <a:picLocks noChangeAspect="1"/>
          </p:cNvPicPr>
          <p:nvPr/>
        </p:nvPicPr>
        <p:blipFill>
          <a:blip r:embed="rId2"/>
          <a:stretch>
            <a:fillRect/>
          </a:stretch>
        </p:blipFill>
        <p:spPr>
          <a:xfrm>
            <a:off x="6320790" y="1748790"/>
            <a:ext cx="297180" cy="297180"/>
          </a:xfrm>
          <a:prstGeom prst="rect">
            <a:avLst/>
          </a:prstGeom>
        </p:spPr>
      </p:pic>
      <p:sp>
        <p:nvSpPr>
          <p:cNvPr id="7" name="Text 3"/>
          <p:cNvSpPr txBox="1"/>
          <p:nvPr/>
        </p:nvSpPr>
        <p:spPr>
          <a:xfrm>
            <a:off x="6949440" y="1581912"/>
            <a:ext cx="4663440" cy="365760"/>
          </a:xfrm>
          <a:prstGeom prst="rect">
            <a:avLst/>
          </a:prstGeom>
          <a:noFill/>
          <a:ln/>
        </p:spPr>
        <p:txBody>
          <a:bodyPr wrap="square" lIns="0" tIns="0" rIns="0" bIns="0" rtlCol="0" anchor="t"/>
          <a:lstStyle/>
          <a:p>
            <a:pPr indent="0" marL="0">
              <a:buNone/>
            </a:pPr>
            <a:r>
              <a:rPr lang="en-US" sz="1800" b="1" dirty="0">
                <a:solidFill>
                  <a:schemeClr val="tx2"/>
                </a:solidFill>
              </a:rPr>
              <a:t>Computadora o celular</a:t>
            </a:r>
            <a:endParaRPr lang="en-US" sz="1800" dirty="0"/>
          </a:p>
        </p:txBody>
      </p:sp>
      <p:sp>
        <p:nvSpPr>
          <p:cNvPr id="8" name="Text 4"/>
          <p:cNvSpPr txBox="1"/>
          <p:nvPr/>
        </p:nvSpPr>
        <p:spPr>
          <a:xfrm>
            <a:off x="6949440" y="1947672"/>
            <a:ext cx="4663440" cy="685800"/>
          </a:xfrm>
          <a:prstGeom prst="rect">
            <a:avLst/>
          </a:prstGeom>
          <a:noFill/>
          <a:ln/>
        </p:spPr>
        <p:txBody>
          <a:bodyPr wrap="square" lIns="0" tIns="0" rIns="0" bIns="0" rtlCol="0" anchor="t"/>
          <a:lstStyle/>
          <a:p>
            <a:pPr indent="0" marL="0">
              <a:buNone/>
            </a:pPr>
            <a:r>
              <a:rPr lang="en-US" sz="1500" dirty="0">
                <a:solidFill>
                  <a:schemeClr val="tx1"/>
                </a:solidFill>
              </a:rPr>
              <a:t>El navegador habla con una sola dirección: el servidor de Vite, por HTTPS.</a:t>
            </a:r>
            <a:endParaRPr lang="en-US" sz="1500" dirty="0"/>
          </a:p>
        </p:txBody>
      </p:sp>
      <p:sp>
        <p:nvSpPr>
          <p:cNvPr id="9" name="icono-fondo"/>
          <p:cNvSpPr/>
          <p:nvPr/>
        </p:nvSpPr>
        <p:spPr>
          <a:xfrm>
            <a:off x="6172200" y="2743200"/>
            <a:ext cx="594360" cy="594360"/>
          </a:xfrm>
          <a:prstGeom prst="ellipse">
            <a:avLst/>
          </a:prstGeom>
          <a:solidFill>
            <a:srgbClr val="4F46E5"/>
          </a:solidFill>
          <a:ln w="12700">
            <a:solidFill>
              <a:srgbClr val="4F46E5"/>
            </a:solidFill>
            <a:prstDash val="solid"/>
          </a:ln>
        </p:spPr>
      </p:sp>
      <p:pic>
        <p:nvPicPr>
          <p:cNvPr id="10" name="icono" descr="preencoded.png">    </p:cNvPr>
          <p:cNvPicPr>
            <a:picLocks noChangeAspect="1"/>
          </p:cNvPicPr>
          <p:nvPr/>
        </p:nvPicPr>
        <p:blipFill>
          <a:blip r:embed="rId3"/>
          <a:stretch>
            <a:fillRect/>
          </a:stretch>
        </p:blipFill>
        <p:spPr>
          <a:xfrm>
            <a:off x="6320790" y="2891790"/>
            <a:ext cx="297180" cy="297180"/>
          </a:xfrm>
          <a:prstGeom prst="rect">
            <a:avLst/>
          </a:prstGeom>
        </p:spPr>
      </p:pic>
      <p:sp>
        <p:nvSpPr>
          <p:cNvPr id="11" name="Text 6"/>
          <p:cNvSpPr txBox="1"/>
          <p:nvPr/>
        </p:nvSpPr>
        <p:spPr>
          <a:xfrm>
            <a:off x="6949440" y="2724912"/>
            <a:ext cx="4663440" cy="365760"/>
          </a:xfrm>
          <a:prstGeom prst="rect">
            <a:avLst/>
          </a:prstGeom>
          <a:noFill/>
          <a:ln/>
        </p:spPr>
        <p:txBody>
          <a:bodyPr wrap="square" lIns="0" tIns="0" rIns="0" bIns="0" rtlCol="0" anchor="t"/>
          <a:lstStyle/>
          <a:p>
            <a:pPr indent="0" marL="0">
              <a:buNone/>
            </a:pPr>
            <a:r>
              <a:rPr lang="en-US" sz="1800" b="1" dirty="0">
                <a:solidFill>
                  <a:schemeClr val="tx2"/>
                </a:solidFill>
              </a:rPr>
              <a:t>Proxy</a:t>
            </a:r>
            <a:endParaRPr lang="en-US" sz="1800" dirty="0"/>
          </a:p>
        </p:txBody>
      </p:sp>
      <p:sp>
        <p:nvSpPr>
          <p:cNvPr id="12" name="Text 7"/>
          <p:cNvSpPr txBox="1"/>
          <p:nvPr/>
        </p:nvSpPr>
        <p:spPr>
          <a:xfrm>
            <a:off x="6949440" y="3090672"/>
            <a:ext cx="4663440" cy="685800"/>
          </a:xfrm>
          <a:prstGeom prst="rect">
            <a:avLst/>
          </a:prstGeom>
          <a:noFill/>
          <a:ln/>
        </p:spPr>
        <p:txBody>
          <a:bodyPr wrap="square" lIns="0" tIns="0" rIns="0" bIns="0" rtlCol="0" anchor="t"/>
          <a:lstStyle/>
          <a:p>
            <a:pPr indent="0" marL="0">
              <a:buNone/>
            </a:pPr>
            <a:r>
              <a:rPr lang="en-US" sz="1500" dirty="0">
                <a:solidFill>
                  <a:schemeClr val="tx1"/>
                </a:solidFill>
              </a:rPr>
              <a:t>Vite reenvía /api y /media al backend: funciona igual desde cualquier dispositivo de la red.</a:t>
            </a:r>
            <a:endParaRPr lang="en-US" sz="1500" dirty="0"/>
          </a:p>
        </p:txBody>
      </p:sp>
      <p:sp>
        <p:nvSpPr>
          <p:cNvPr id="13" name="icono-fondo"/>
          <p:cNvSpPr/>
          <p:nvPr/>
        </p:nvSpPr>
        <p:spPr>
          <a:xfrm>
            <a:off x="6172200" y="3886200"/>
            <a:ext cx="594360" cy="594360"/>
          </a:xfrm>
          <a:prstGeom prst="ellipse">
            <a:avLst/>
          </a:prstGeom>
          <a:solidFill>
            <a:srgbClr val="4F46E5"/>
          </a:solidFill>
          <a:ln w="12700">
            <a:solidFill>
              <a:srgbClr val="4F46E5"/>
            </a:solidFill>
            <a:prstDash val="solid"/>
          </a:ln>
        </p:spPr>
      </p:sp>
      <p:pic>
        <p:nvPicPr>
          <p:cNvPr id="14" name="icono" descr="preencoded.png">    </p:cNvPr>
          <p:cNvPicPr>
            <a:picLocks noChangeAspect="1"/>
          </p:cNvPicPr>
          <p:nvPr/>
        </p:nvPicPr>
        <p:blipFill>
          <a:blip r:embed="rId4"/>
          <a:stretch>
            <a:fillRect/>
          </a:stretch>
        </p:blipFill>
        <p:spPr>
          <a:xfrm>
            <a:off x="6320790" y="4034790"/>
            <a:ext cx="297180" cy="297180"/>
          </a:xfrm>
          <a:prstGeom prst="rect">
            <a:avLst/>
          </a:prstGeom>
        </p:spPr>
      </p:pic>
      <p:sp>
        <p:nvSpPr>
          <p:cNvPr id="15" name="Text 9"/>
          <p:cNvSpPr txBox="1"/>
          <p:nvPr/>
        </p:nvSpPr>
        <p:spPr>
          <a:xfrm>
            <a:off x="6949440" y="3867912"/>
            <a:ext cx="4663440" cy="365760"/>
          </a:xfrm>
          <a:prstGeom prst="rect">
            <a:avLst/>
          </a:prstGeom>
          <a:noFill/>
          <a:ln/>
        </p:spPr>
        <p:txBody>
          <a:bodyPr wrap="square" lIns="0" tIns="0" rIns="0" bIns="0" rtlCol="0" anchor="t"/>
          <a:lstStyle/>
          <a:p>
            <a:pPr indent="0" marL="0">
              <a:buNone/>
            </a:pPr>
            <a:r>
              <a:rPr lang="en-US" sz="1800" b="1" dirty="0">
                <a:solidFill>
                  <a:schemeClr val="tx2"/>
                </a:solidFill>
              </a:rPr>
              <a:t>API</a:t>
            </a:r>
            <a:endParaRPr lang="en-US" sz="1800" dirty="0"/>
          </a:p>
        </p:txBody>
      </p:sp>
      <p:sp>
        <p:nvSpPr>
          <p:cNvPr id="16" name="Text 10"/>
          <p:cNvSpPr txBox="1"/>
          <p:nvPr/>
        </p:nvSpPr>
        <p:spPr>
          <a:xfrm>
            <a:off x="6949440" y="4233672"/>
            <a:ext cx="4663440" cy="685800"/>
          </a:xfrm>
          <a:prstGeom prst="rect">
            <a:avLst/>
          </a:prstGeom>
          <a:noFill/>
          <a:ln/>
        </p:spPr>
        <p:txBody>
          <a:bodyPr wrap="square" lIns="0" tIns="0" rIns="0" bIns="0" rtlCol="0" anchor="t"/>
          <a:lstStyle/>
          <a:p>
            <a:pPr indent="0" marL="0">
              <a:buNone/>
            </a:pPr>
            <a:r>
              <a:rPr lang="en-US" sz="1500" dirty="0">
                <a:solidFill>
                  <a:schemeClr val="tx1"/>
                </a:solidFill>
              </a:rPr>
              <a:t>Django REST valida el pedido y los permisos, y delega en la app de dominio.</a:t>
            </a:r>
            <a:endParaRPr lang="en-US" sz="1500" dirty="0"/>
          </a:p>
        </p:txBody>
      </p:sp>
      <p:sp>
        <p:nvSpPr>
          <p:cNvPr id="17" name="icono-fondo"/>
          <p:cNvSpPr/>
          <p:nvPr/>
        </p:nvSpPr>
        <p:spPr>
          <a:xfrm>
            <a:off x="6172200" y="5029200"/>
            <a:ext cx="594360" cy="594360"/>
          </a:xfrm>
          <a:prstGeom prst="ellipse">
            <a:avLst/>
          </a:prstGeom>
          <a:solidFill>
            <a:srgbClr val="4F46E5"/>
          </a:solidFill>
          <a:ln w="12700">
            <a:solidFill>
              <a:srgbClr val="4F46E5"/>
            </a:solidFill>
            <a:prstDash val="solid"/>
          </a:ln>
        </p:spPr>
      </p:sp>
      <p:pic>
        <p:nvPicPr>
          <p:cNvPr id="18" name="icono" descr="preencoded.png">    </p:cNvPr>
          <p:cNvPicPr>
            <a:picLocks noChangeAspect="1"/>
          </p:cNvPicPr>
          <p:nvPr/>
        </p:nvPicPr>
        <p:blipFill>
          <a:blip r:embed="rId5"/>
          <a:stretch>
            <a:fillRect/>
          </a:stretch>
        </p:blipFill>
        <p:spPr>
          <a:xfrm>
            <a:off x="6320790" y="5177790"/>
            <a:ext cx="297180" cy="297180"/>
          </a:xfrm>
          <a:prstGeom prst="rect">
            <a:avLst/>
          </a:prstGeom>
        </p:spPr>
      </p:pic>
      <p:sp>
        <p:nvSpPr>
          <p:cNvPr id="19" name="Text 12"/>
          <p:cNvSpPr txBox="1"/>
          <p:nvPr/>
        </p:nvSpPr>
        <p:spPr>
          <a:xfrm>
            <a:off x="6949440" y="5010912"/>
            <a:ext cx="4663440" cy="365760"/>
          </a:xfrm>
          <a:prstGeom prst="rect">
            <a:avLst/>
          </a:prstGeom>
          <a:noFill/>
          <a:ln/>
        </p:spPr>
        <p:txBody>
          <a:bodyPr wrap="square" lIns="0" tIns="0" rIns="0" bIns="0" rtlCol="0" anchor="t"/>
          <a:lstStyle/>
          <a:p>
            <a:pPr indent="0" marL="0">
              <a:buNone/>
            </a:pPr>
            <a:r>
              <a:rPr lang="en-US" sz="1800" b="1" dirty="0">
                <a:solidFill>
                  <a:schemeClr val="tx2"/>
                </a:solidFill>
              </a:rPr>
              <a:t>Seis apps</a:t>
            </a:r>
            <a:endParaRPr lang="en-US" sz="1800" dirty="0"/>
          </a:p>
        </p:txBody>
      </p:sp>
      <p:sp>
        <p:nvSpPr>
          <p:cNvPr id="20" name="Text 13"/>
          <p:cNvSpPr txBox="1"/>
          <p:nvPr/>
        </p:nvSpPr>
        <p:spPr>
          <a:xfrm>
            <a:off x="6949440" y="5376672"/>
            <a:ext cx="4663440" cy="685800"/>
          </a:xfrm>
          <a:prstGeom prst="rect">
            <a:avLst/>
          </a:prstGeom>
          <a:noFill/>
          <a:ln/>
        </p:spPr>
        <p:txBody>
          <a:bodyPr wrap="square" lIns="0" tIns="0" rIns="0" bIns="0" rtlCol="0" anchor="t"/>
          <a:lstStyle/>
          <a:p>
            <a:pPr indent="0" marL="0">
              <a:buNone/>
            </a:pPr>
            <a:r>
              <a:rPr lang="en-US" sz="1500" dirty="0">
                <a:solidFill>
                  <a:schemeClr val="tx1"/>
                </a:solidFill>
              </a:rPr>
              <a:t>users · events · invitations · attendance · expenses · dashboard</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320040"/>
          </a:xfrm>
          <a:prstGeom prst="rect">
            <a:avLst/>
          </a:prstGeom>
          <a:noFill/>
          <a:ln/>
        </p:spPr>
        <p:txBody>
          <a:bodyPr wrap="square" lIns="0" tIns="0" rIns="0" bIns="0" rtlCol="0"/>
          <a:lstStyle/>
          <a:p>
            <a:pPr indent="0" marL="0">
              <a:buNone/>
            </a:pPr>
            <a:r>
              <a:rPr lang="en-US" sz="1200" b="1" spc="200" kern="0" dirty="0">
                <a:solidFill>
                  <a:schemeClr val="accent1"/>
                </a:solidFill>
              </a:rPr>
              <a:t>01 · TECNOLOGÍAS Y ARQUITECTURA</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400" b="1" dirty="0">
                <a:solidFill>
                  <a:schemeClr val="tx2"/>
                </a:solidFill>
              </a:rPr>
              <a:t>Modelo de datos: el evento en el centro</a:t>
            </a:r>
            <a:endParaRPr lang="en-US" sz="3400" dirty="0"/>
          </a:p>
        </p:txBody>
      </p:sp>
      <p:pic>
        <p:nvPicPr>
          <p:cNvPr id="4" name="diagrama-modelo" descr="/tmp/claude-0/ppt/img/modelo.png">    </p:cNvPr>
          <p:cNvPicPr>
            <a:picLocks noChangeAspect="1"/>
          </p:cNvPicPr>
          <p:nvPr/>
        </p:nvPicPr>
        <p:blipFill>
          <a:blip r:embed="rId1"/>
          <a:stretch>
            <a:fillRect/>
          </a:stretch>
        </p:blipFill>
        <p:spPr>
          <a:xfrm>
            <a:off x="548640" y="1417320"/>
            <a:ext cx="6675120" cy="5079087"/>
          </a:xfrm>
          <a:prstGeom prst="rect">
            <a:avLst/>
          </a:prstGeom>
        </p:spPr>
      </p:pic>
      <p:sp>
        <p:nvSpPr>
          <p:cNvPr id="5" name="icono-fondo"/>
          <p:cNvSpPr/>
          <p:nvPr/>
        </p:nvSpPr>
        <p:spPr>
          <a:xfrm>
            <a:off x="7589520" y="1600200"/>
            <a:ext cx="548640" cy="548640"/>
          </a:xfrm>
          <a:prstGeom prst="ellipse">
            <a:avLst/>
          </a:prstGeom>
          <a:solidFill>
            <a:srgbClr val="16A34A"/>
          </a:solidFill>
          <a:ln w="12700">
            <a:solidFill>
              <a:srgbClr val="16A34A"/>
            </a:solidFill>
            <a:prstDash val="solid"/>
          </a:ln>
        </p:spPr>
      </p:sp>
      <p:pic>
        <p:nvPicPr>
          <p:cNvPr id="6" name="icono" descr="preencoded.png">    </p:cNvPr>
          <p:cNvPicPr>
            <a:picLocks noChangeAspect="1"/>
          </p:cNvPicPr>
          <p:nvPr/>
        </p:nvPicPr>
        <p:blipFill>
          <a:blip r:embed="rId2"/>
          <a:stretch>
            <a:fillRect/>
          </a:stretch>
        </p:blipFill>
        <p:spPr>
          <a:xfrm>
            <a:off x="7726680" y="1737360"/>
            <a:ext cx="274320" cy="274320"/>
          </a:xfrm>
          <a:prstGeom prst="rect">
            <a:avLst/>
          </a:prstGeom>
        </p:spPr>
      </p:pic>
      <p:sp>
        <p:nvSpPr>
          <p:cNvPr id="7" name="Text 3"/>
          <p:cNvSpPr txBox="1"/>
          <p:nvPr/>
        </p:nvSpPr>
        <p:spPr>
          <a:xfrm>
            <a:off x="8321040" y="1581912"/>
            <a:ext cx="3383280" cy="365760"/>
          </a:xfrm>
          <a:prstGeom prst="rect">
            <a:avLst/>
          </a:prstGeom>
          <a:noFill/>
          <a:ln/>
        </p:spPr>
        <p:txBody>
          <a:bodyPr wrap="square" lIns="0" tIns="0" rIns="0" bIns="0" rtlCol="0" anchor="t"/>
          <a:lstStyle/>
          <a:p>
            <a:pPr indent="0" marL="0">
              <a:buNone/>
            </a:pPr>
            <a:r>
              <a:rPr lang="en-US" sz="1700" b="1" dirty="0">
                <a:solidFill>
                  <a:schemeClr val="tx2"/>
                </a:solidFill>
              </a:rPr>
              <a:t>QR imposible de adivinar</a:t>
            </a:r>
            <a:endParaRPr lang="en-US" sz="1700" dirty="0"/>
          </a:p>
        </p:txBody>
      </p:sp>
      <p:sp>
        <p:nvSpPr>
          <p:cNvPr id="8" name="Text 4"/>
          <p:cNvSpPr txBox="1"/>
          <p:nvPr/>
        </p:nvSpPr>
        <p:spPr>
          <a:xfrm>
            <a:off x="8321040" y="1929384"/>
            <a:ext cx="3383280" cy="685800"/>
          </a:xfrm>
          <a:prstGeom prst="rect">
            <a:avLst/>
          </a:prstGeom>
          <a:noFill/>
          <a:ln/>
        </p:spPr>
        <p:txBody>
          <a:bodyPr wrap="square" lIns="0" tIns="0" rIns="0" bIns="0" rtlCol="0" anchor="t"/>
          <a:lstStyle/>
          <a:p>
            <a:pPr indent="0" marL="0">
              <a:buNone/>
            </a:pPr>
            <a:r>
              <a:rPr lang="en-US" sz="1400" dirty="0">
                <a:solidFill>
                  <a:schemeClr val="tx1"/>
                </a:solidFill>
              </a:rPr>
              <a:t>Código aleatorio de 128 bits generado por el servidor.</a:t>
            </a:r>
            <a:endParaRPr lang="en-US" sz="1400" dirty="0"/>
          </a:p>
        </p:txBody>
      </p:sp>
      <p:sp>
        <p:nvSpPr>
          <p:cNvPr id="9" name="icono-fondo"/>
          <p:cNvSpPr/>
          <p:nvPr/>
        </p:nvSpPr>
        <p:spPr>
          <a:xfrm>
            <a:off x="7589520" y="2743200"/>
            <a:ext cx="548640" cy="548640"/>
          </a:xfrm>
          <a:prstGeom prst="ellipse">
            <a:avLst/>
          </a:prstGeom>
          <a:solidFill>
            <a:srgbClr val="16A34A"/>
          </a:solidFill>
          <a:ln w="12700">
            <a:solidFill>
              <a:srgbClr val="16A34A"/>
            </a:solidFill>
            <a:prstDash val="solid"/>
          </a:ln>
        </p:spPr>
      </p:sp>
      <p:pic>
        <p:nvPicPr>
          <p:cNvPr id="10" name="icono" descr="preencoded.png">    </p:cNvPr>
          <p:cNvPicPr>
            <a:picLocks noChangeAspect="1"/>
          </p:cNvPicPr>
          <p:nvPr/>
        </p:nvPicPr>
        <p:blipFill>
          <a:blip r:embed="rId3"/>
          <a:stretch>
            <a:fillRect/>
          </a:stretch>
        </p:blipFill>
        <p:spPr>
          <a:xfrm>
            <a:off x="7726680" y="2880360"/>
            <a:ext cx="274320" cy="274320"/>
          </a:xfrm>
          <a:prstGeom prst="rect">
            <a:avLst/>
          </a:prstGeom>
        </p:spPr>
      </p:pic>
      <p:sp>
        <p:nvSpPr>
          <p:cNvPr id="11" name="Text 6"/>
          <p:cNvSpPr txBox="1"/>
          <p:nvPr/>
        </p:nvSpPr>
        <p:spPr>
          <a:xfrm>
            <a:off x="8321040" y="2724912"/>
            <a:ext cx="3383280" cy="365760"/>
          </a:xfrm>
          <a:prstGeom prst="rect">
            <a:avLst/>
          </a:prstGeom>
          <a:noFill/>
          <a:ln/>
        </p:spPr>
        <p:txBody>
          <a:bodyPr wrap="square" lIns="0" tIns="0" rIns="0" bIns="0" rtlCol="0" anchor="t"/>
          <a:lstStyle/>
          <a:p>
            <a:pPr indent="0" marL="0">
              <a:buNone/>
            </a:pPr>
            <a:r>
              <a:rPr lang="en-US" sz="1700" b="1" dirty="0">
                <a:solidFill>
                  <a:schemeClr val="tx2"/>
                </a:solidFill>
              </a:rPr>
              <a:t>Un solo ingreso</a:t>
            </a:r>
            <a:endParaRPr lang="en-US" sz="1700" dirty="0"/>
          </a:p>
        </p:txBody>
      </p:sp>
      <p:sp>
        <p:nvSpPr>
          <p:cNvPr id="12" name="Text 7"/>
          <p:cNvSpPr txBox="1"/>
          <p:nvPr/>
        </p:nvSpPr>
        <p:spPr>
          <a:xfrm>
            <a:off x="8321040" y="3072384"/>
            <a:ext cx="3383280" cy="685800"/>
          </a:xfrm>
          <a:prstGeom prst="rect">
            <a:avLst/>
          </a:prstGeom>
          <a:noFill/>
          <a:ln/>
        </p:spPr>
        <p:txBody>
          <a:bodyPr wrap="square" lIns="0" tIns="0" rIns="0" bIns="0" rtlCol="0" anchor="t"/>
          <a:lstStyle/>
          <a:p>
            <a:pPr indent="0" marL="0">
              <a:buNone/>
            </a:pPr>
            <a:r>
              <a:rPr lang="en-US" sz="1400" dirty="0">
                <a:solidFill>
                  <a:schemeClr val="tx1"/>
                </a:solidFill>
              </a:rPr>
              <a:t>Relación 1 : 0..1 entre invitación y asistencia.</a:t>
            </a:r>
            <a:endParaRPr lang="en-US" sz="1400" dirty="0"/>
          </a:p>
        </p:txBody>
      </p:sp>
      <p:sp>
        <p:nvSpPr>
          <p:cNvPr id="13" name="icono-fondo"/>
          <p:cNvSpPr/>
          <p:nvPr/>
        </p:nvSpPr>
        <p:spPr>
          <a:xfrm>
            <a:off x="7589520" y="3886200"/>
            <a:ext cx="548640" cy="548640"/>
          </a:xfrm>
          <a:prstGeom prst="ellipse">
            <a:avLst/>
          </a:prstGeom>
          <a:solidFill>
            <a:srgbClr val="16A34A"/>
          </a:solidFill>
          <a:ln w="12700">
            <a:solidFill>
              <a:srgbClr val="16A34A"/>
            </a:solidFill>
            <a:prstDash val="solid"/>
          </a:ln>
        </p:spPr>
      </p:sp>
      <p:pic>
        <p:nvPicPr>
          <p:cNvPr id="14" name="icono" descr="preencoded.png">    </p:cNvPr>
          <p:cNvPicPr>
            <a:picLocks noChangeAspect="1"/>
          </p:cNvPicPr>
          <p:nvPr/>
        </p:nvPicPr>
        <p:blipFill>
          <a:blip r:embed="rId4"/>
          <a:stretch>
            <a:fillRect/>
          </a:stretch>
        </p:blipFill>
        <p:spPr>
          <a:xfrm>
            <a:off x="7726680" y="4023360"/>
            <a:ext cx="274320" cy="274320"/>
          </a:xfrm>
          <a:prstGeom prst="rect">
            <a:avLst/>
          </a:prstGeom>
        </p:spPr>
      </p:pic>
      <p:sp>
        <p:nvSpPr>
          <p:cNvPr id="15" name="Text 9"/>
          <p:cNvSpPr txBox="1"/>
          <p:nvPr/>
        </p:nvSpPr>
        <p:spPr>
          <a:xfrm>
            <a:off x="8321040" y="3867912"/>
            <a:ext cx="3383280" cy="365760"/>
          </a:xfrm>
          <a:prstGeom prst="rect">
            <a:avLst/>
          </a:prstGeom>
          <a:noFill/>
          <a:ln/>
        </p:spPr>
        <p:txBody>
          <a:bodyPr wrap="square" lIns="0" tIns="0" rIns="0" bIns="0" rtlCol="0" anchor="t"/>
          <a:lstStyle/>
          <a:p>
            <a:pPr indent="0" marL="0">
              <a:buNone/>
            </a:pPr>
            <a:r>
              <a:rPr lang="en-US" sz="1700" b="1" dirty="0">
                <a:solidFill>
                  <a:schemeClr val="tx2"/>
                </a:solidFill>
              </a:rPr>
              <a:t>Estados en secuencia</a:t>
            </a:r>
            <a:endParaRPr lang="en-US" sz="1700" dirty="0"/>
          </a:p>
        </p:txBody>
      </p:sp>
      <p:sp>
        <p:nvSpPr>
          <p:cNvPr id="16" name="Text 10"/>
          <p:cNvSpPr txBox="1"/>
          <p:nvPr/>
        </p:nvSpPr>
        <p:spPr>
          <a:xfrm>
            <a:off x="8321040" y="4215384"/>
            <a:ext cx="3383280" cy="685800"/>
          </a:xfrm>
          <a:prstGeom prst="rect">
            <a:avLst/>
          </a:prstGeom>
          <a:noFill/>
          <a:ln/>
        </p:spPr>
        <p:txBody>
          <a:bodyPr wrap="square" lIns="0" tIns="0" rIns="0" bIns="0" rtlCol="0" anchor="t"/>
          <a:lstStyle/>
          <a:p>
            <a:pPr indent="0" marL="0">
              <a:buNone/>
            </a:pPr>
            <a:r>
              <a:rPr lang="en-US" sz="1400" dirty="0">
                <a:solidFill>
                  <a:schemeClr val="tx1"/>
                </a:solidFill>
              </a:rPr>
              <a:t>Borrador → activo → finalizado; check-in solo si está activo.</a:t>
            </a:r>
            <a:endParaRPr lang="en-US" sz="1400" dirty="0"/>
          </a:p>
        </p:txBody>
      </p:sp>
      <p:sp>
        <p:nvSpPr>
          <p:cNvPr id="17" name="icono-fondo"/>
          <p:cNvSpPr/>
          <p:nvPr/>
        </p:nvSpPr>
        <p:spPr>
          <a:xfrm>
            <a:off x="7589520" y="5029200"/>
            <a:ext cx="548640" cy="548640"/>
          </a:xfrm>
          <a:prstGeom prst="ellipse">
            <a:avLst/>
          </a:prstGeom>
          <a:solidFill>
            <a:srgbClr val="16A34A"/>
          </a:solidFill>
          <a:ln w="12700">
            <a:solidFill>
              <a:srgbClr val="16A34A"/>
            </a:solidFill>
            <a:prstDash val="solid"/>
          </a:ln>
        </p:spPr>
      </p:sp>
      <p:pic>
        <p:nvPicPr>
          <p:cNvPr id="18" name="icono" descr="preencoded.png">    </p:cNvPr>
          <p:cNvPicPr>
            <a:picLocks noChangeAspect="1"/>
          </p:cNvPicPr>
          <p:nvPr/>
        </p:nvPicPr>
        <p:blipFill>
          <a:blip r:embed="rId5"/>
          <a:stretch>
            <a:fillRect/>
          </a:stretch>
        </p:blipFill>
        <p:spPr>
          <a:xfrm>
            <a:off x="7726680" y="5166360"/>
            <a:ext cx="274320" cy="274320"/>
          </a:xfrm>
          <a:prstGeom prst="rect">
            <a:avLst/>
          </a:prstGeom>
        </p:spPr>
      </p:pic>
      <p:sp>
        <p:nvSpPr>
          <p:cNvPr id="19" name="Text 12"/>
          <p:cNvSpPr txBox="1"/>
          <p:nvPr/>
        </p:nvSpPr>
        <p:spPr>
          <a:xfrm>
            <a:off x="8321040" y="5010912"/>
            <a:ext cx="3383280" cy="365760"/>
          </a:xfrm>
          <a:prstGeom prst="rect">
            <a:avLst/>
          </a:prstGeom>
          <a:noFill/>
          <a:ln/>
        </p:spPr>
        <p:txBody>
          <a:bodyPr wrap="square" lIns="0" tIns="0" rIns="0" bIns="0" rtlCol="0" anchor="t"/>
          <a:lstStyle/>
          <a:p>
            <a:pPr indent="0" marL="0">
              <a:buNone/>
            </a:pPr>
            <a:r>
              <a:rPr lang="en-US" sz="1700" b="1" dirty="0">
                <a:solidFill>
                  <a:schemeClr val="tx2"/>
                </a:solidFill>
              </a:rPr>
              <a:t>Colaboradores por evento</a:t>
            </a:r>
            <a:endParaRPr lang="en-US" sz="1700" dirty="0"/>
          </a:p>
        </p:txBody>
      </p:sp>
      <p:sp>
        <p:nvSpPr>
          <p:cNvPr id="20" name="Text 13"/>
          <p:cNvSpPr txBox="1"/>
          <p:nvPr/>
        </p:nvSpPr>
        <p:spPr>
          <a:xfrm>
            <a:off x="8321040" y="5358384"/>
            <a:ext cx="3383280" cy="685800"/>
          </a:xfrm>
          <a:prstGeom prst="rect">
            <a:avLst/>
          </a:prstGeom>
          <a:noFill/>
          <a:ln/>
        </p:spPr>
        <p:txBody>
          <a:bodyPr wrap="square" lIns="0" tIns="0" rIns="0" bIns="0" rtlCol="0" anchor="t"/>
          <a:lstStyle/>
          <a:p>
            <a:pPr indent="0" marL="0">
              <a:buNone/>
            </a:pPr>
            <a:r>
              <a:rPr lang="en-US" sz="1400" dirty="0">
                <a:solidFill>
                  <a:schemeClr val="tx1"/>
                </a:solidFill>
              </a:rPr>
              <a:t>Acceso a la puerta de ese evento, y nada más.</a:t>
            </a:r>
            <a:endParaRPr lang="en-US" sz="1400" dirty="0"/>
          </a:p>
        </p:txBody>
      </p:sp>
      <p:sp>
        <p:nvSpPr>
          <p:cNvPr id="21" name="Text 14"/>
          <p:cNvSpPr txBox="1"/>
          <p:nvPr/>
        </p:nvSpPr>
        <p:spPr>
          <a:xfrm>
            <a:off x="548640" y="5989320"/>
            <a:ext cx="6675120" cy="274320"/>
          </a:xfrm>
          <a:prstGeom prst="rect">
            <a:avLst/>
          </a:prstGeom>
          <a:noFill/>
          <a:ln/>
        </p:spPr>
        <p:txBody>
          <a:bodyPr wrap="square" lIns="0" tIns="0" rIns="0" bIns="0" rtlCol="0" anchor="t"/>
          <a:lstStyle/>
          <a:p>
            <a:pPr indent="0" marL="0">
              <a:buNone/>
            </a:pPr>
            <a:r>
              <a:rPr lang="en-US" sz="1200" i="1" dirty="0">
                <a:solidFill>
                  <a:srgbClr val="6B7280"/>
                </a:solidFill>
              </a:rPr>
              <a:t>En verde, lo incorporado durante el trabajo.</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320040"/>
          </a:xfrm>
          <a:prstGeom prst="rect">
            <a:avLst/>
          </a:prstGeom>
          <a:noFill/>
          <a:ln/>
        </p:spPr>
        <p:txBody>
          <a:bodyPr wrap="square" lIns="0" tIns="0" rIns="0" bIns="0" rtlCol="0"/>
          <a:lstStyle/>
          <a:p>
            <a:pPr indent="0" marL="0">
              <a:buNone/>
            </a:pPr>
            <a:r>
              <a:rPr lang="en-US" sz="1200" b="1" spc="200" kern="0" dirty="0">
                <a:solidFill>
                  <a:schemeClr val="accent1"/>
                </a:solidFill>
              </a:rPr>
              <a:t>02 · FUNCIONALIDADES</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400" b="1" dirty="0">
                <a:solidFill>
                  <a:schemeClr val="tx2"/>
                </a:solidFill>
              </a:rPr>
              <a:t>Todo el ciclo del evento en un solo lugar</a:t>
            </a:r>
            <a:endParaRPr lang="en-US" sz="3400" dirty="0"/>
          </a:p>
        </p:txBody>
      </p:sp>
      <p:sp>
        <p:nvSpPr>
          <p:cNvPr id="4" name="tarjeta"/>
          <p:cNvSpPr/>
          <p:nvPr/>
        </p:nvSpPr>
        <p:spPr>
          <a:xfrm>
            <a:off x="548640" y="1554480"/>
            <a:ext cx="3520440" cy="1325880"/>
          </a:xfrm>
          <a:prstGeom prst="roundRect">
            <a:avLst>
              <a:gd name="adj" fmla="val 8276"/>
            </a:avLst>
          </a:prstGeom>
          <a:solidFill>
            <a:srgbClr val="EEF2FF"/>
          </a:solidFill>
          <a:ln w="12700">
            <a:solidFill>
              <a:srgbClr val="EEF2FF"/>
            </a:solidFill>
            <a:prstDash val="solid"/>
          </a:ln>
        </p:spPr>
      </p:sp>
      <p:sp>
        <p:nvSpPr>
          <p:cNvPr id="5" name="icono-fondo"/>
          <p:cNvSpPr/>
          <p:nvPr/>
        </p:nvSpPr>
        <p:spPr>
          <a:xfrm>
            <a:off x="777240" y="1856232"/>
            <a:ext cx="713232" cy="713232"/>
          </a:xfrm>
          <a:prstGeom prst="ellipse">
            <a:avLst/>
          </a:prstGeom>
          <a:solidFill>
            <a:srgbClr val="4F46E5"/>
          </a:solidFill>
          <a:ln w="12700">
            <a:solidFill>
              <a:srgbClr val="4F46E5"/>
            </a:solidFill>
            <a:prstDash val="solid"/>
          </a:ln>
        </p:spPr>
      </p:sp>
      <p:pic>
        <p:nvPicPr>
          <p:cNvPr id="6" name="icono" descr="preencoded.png">    </p:cNvPr>
          <p:cNvPicPr>
            <a:picLocks noChangeAspect="1"/>
          </p:cNvPicPr>
          <p:nvPr/>
        </p:nvPicPr>
        <p:blipFill>
          <a:blip r:embed="rId1"/>
          <a:stretch>
            <a:fillRect/>
          </a:stretch>
        </p:blipFill>
        <p:spPr>
          <a:xfrm>
            <a:off x="955548" y="2034540"/>
            <a:ext cx="356616" cy="356616"/>
          </a:xfrm>
          <a:prstGeom prst="rect">
            <a:avLst/>
          </a:prstGeom>
        </p:spPr>
      </p:pic>
      <p:sp>
        <p:nvSpPr>
          <p:cNvPr id="7" name="Text 4"/>
          <p:cNvSpPr txBox="1"/>
          <p:nvPr/>
        </p:nvSpPr>
        <p:spPr>
          <a:xfrm>
            <a:off x="1645920" y="1755648"/>
            <a:ext cx="2286000" cy="384048"/>
          </a:xfrm>
          <a:prstGeom prst="rect">
            <a:avLst/>
          </a:prstGeom>
          <a:noFill/>
          <a:ln/>
        </p:spPr>
        <p:txBody>
          <a:bodyPr wrap="square" lIns="0" tIns="0" rIns="0" bIns="0" rtlCol="0" anchor="t"/>
          <a:lstStyle/>
          <a:p>
            <a:pPr indent="0" marL="0">
              <a:buNone/>
            </a:pPr>
            <a:r>
              <a:rPr lang="en-US" sz="1800" b="1" dirty="0">
                <a:solidFill>
                  <a:schemeClr val="tx2"/>
                </a:solidFill>
              </a:rPr>
              <a:t>Cuentas</a:t>
            </a:r>
            <a:endParaRPr lang="en-US" sz="1800" dirty="0"/>
          </a:p>
        </p:txBody>
      </p:sp>
      <p:sp>
        <p:nvSpPr>
          <p:cNvPr id="8" name="Text 5"/>
          <p:cNvSpPr txBox="1"/>
          <p:nvPr/>
        </p:nvSpPr>
        <p:spPr>
          <a:xfrm>
            <a:off x="1645920" y="2148840"/>
            <a:ext cx="2286000" cy="640080"/>
          </a:xfrm>
          <a:prstGeom prst="rect">
            <a:avLst/>
          </a:prstGeom>
          <a:noFill/>
          <a:ln/>
        </p:spPr>
        <p:txBody>
          <a:bodyPr wrap="square" lIns="0" tIns="0" rIns="0" bIns="0" rtlCol="0" anchor="t"/>
          <a:lstStyle/>
          <a:p>
            <a:pPr indent="0" marL="0">
              <a:buNone/>
            </a:pPr>
            <a:r>
              <a:rPr lang="en-US" sz="1400" dirty="0">
                <a:solidFill>
                  <a:schemeClr val="tx1"/>
                </a:solidFill>
              </a:rPr>
              <a:t>Registro con verificación de email, perfil y contraseña</a:t>
            </a:r>
            <a:endParaRPr lang="en-US" sz="1400" dirty="0"/>
          </a:p>
        </p:txBody>
      </p:sp>
      <p:sp>
        <p:nvSpPr>
          <p:cNvPr id="9" name="tarjeta"/>
          <p:cNvSpPr/>
          <p:nvPr/>
        </p:nvSpPr>
        <p:spPr>
          <a:xfrm>
            <a:off x="4297680" y="1554480"/>
            <a:ext cx="3520440" cy="1325880"/>
          </a:xfrm>
          <a:prstGeom prst="roundRect">
            <a:avLst>
              <a:gd name="adj" fmla="val 8276"/>
            </a:avLst>
          </a:prstGeom>
          <a:solidFill>
            <a:srgbClr val="EEF2FF"/>
          </a:solidFill>
          <a:ln w="12700">
            <a:solidFill>
              <a:srgbClr val="EEF2FF"/>
            </a:solidFill>
            <a:prstDash val="solid"/>
          </a:ln>
        </p:spPr>
      </p:sp>
      <p:sp>
        <p:nvSpPr>
          <p:cNvPr id="10" name="icono-fondo"/>
          <p:cNvSpPr/>
          <p:nvPr/>
        </p:nvSpPr>
        <p:spPr>
          <a:xfrm>
            <a:off x="4526280" y="1856232"/>
            <a:ext cx="713232" cy="713232"/>
          </a:xfrm>
          <a:prstGeom prst="ellipse">
            <a:avLst/>
          </a:prstGeom>
          <a:solidFill>
            <a:srgbClr val="4F46E5"/>
          </a:solidFill>
          <a:ln w="12700">
            <a:solidFill>
              <a:srgbClr val="4F46E5"/>
            </a:solidFill>
            <a:prstDash val="solid"/>
          </a:ln>
        </p:spPr>
      </p:sp>
      <p:pic>
        <p:nvPicPr>
          <p:cNvPr id="11" name="icono" descr="preencoded.png">    </p:cNvPr>
          <p:cNvPicPr>
            <a:picLocks noChangeAspect="1"/>
          </p:cNvPicPr>
          <p:nvPr/>
        </p:nvPicPr>
        <p:blipFill>
          <a:blip r:embed="rId2"/>
          <a:stretch>
            <a:fillRect/>
          </a:stretch>
        </p:blipFill>
        <p:spPr>
          <a:xfrm>
            <a:off x="4704588" y="2034540"/>
            <a:ext cx="356616" cy="356616"/>
          </a:xfrm>
          <a:prstGeom prst="rect">
            <a:avLst/>
          </a:prstGeom>
        </p:spPr>
      </p:pic>
      <p:sp>
        <p:nvSpPr>
          <p:cNvPr id="12" name="Text 8"/>
          <p:cNvSpPr txBox="1"/>
          <p:nvPr/>
        </p:nvSpPr>
        <p:spPr>
          <a:xfrm>
            <a:off x="5394960" y="1755648"/>
            <a:ext cx="2286000" cy="384048"/>
          </a:xfrm>
          <a:prstGeom prst="rect">
            <a:avLst/>
          </a:prstGeom>
          <a:noFill/>
          <a:ln/>
        </p:spPr>
        <p:txBody>
          <a:bodyPr wrap="square" lIns="0" tIns="0" rIns="0" bIns="0" rtlCol="0" anchor="t"/>
          <a:lstStyle/>
          <a:p>
            <a:pPr indent="0" marL="0">
              <a:buNone/>
            </a:pPr>
            <a:r>
              <a:rPr lang="en-US" sz="1800" b="1" dirty="0">
                <a:solidFill>
                  <a:schemeClr val="tx2"/>
                </a:solidFill>
              </a:rPr>
              <a:t>Eventos</a:t>
            </a:r>
            <a:endParaRPr lang="en-US" sz="1800" dirty="0"/>
          </a:p>
        </p:txBody>
      </p:sp>
      <p:sp>
        <p:nvSpPr>
          <p:cNvPr id="13" name="Text 9"/>
          <p:cNvSpPr txBox="1"/>
          <p:nvPr/>
        </p:nvSpPr>
        <p:spPr>
          <a:xfrm>
            <a:off x="5394960" y="2148840"/>
            <a:ext cx="2286000" cy="640080"/>
          </a:xfrm>
          <a:prstGeom prst="rect">
            <a:avLst/>
          </a:prstGeom>
          <a:noFill/>
          <a:ln/>
        </p:spPr>
        <p:txBody>
          <a:bodyPr wrap="square" lIns="0" tIns="0" rIns="0" bIns="0" rtlCol="0" anchor="t"/>
          <a:lstStyle/>
          <a:p>
            <a:pPr indent="0" marL="0">
              <a:buNone/>
            </a:pPr>
            <a:r>
              <a:rPr lang="en-US" sz="1400" dirty="0">
                <a:solidFill>
                  <a:schemeClr val="tx1"/>
                </a:solidFill>
              </a:rPr>
              <a:t>Estados, imagen, presupuesto y calendario</a:t>
            </a:r>
            <a:endParaRPr lang="en-US" sz="1400" dirty="0"/>
          </a:p>
        </p:txBody>
      </p:sp>
      <p:sp>
        <p:nvSpPr>
          <p:cNvPr id="14" name="tarjeta"/>
          <p:cNvSpPr/>
          <p:nvPr/>
        </p:nvSpPr>
        <p:spPr>
          <a:xfrm>
            <a:off x="8046720" y="1554480"/>
            <a:ext cx="3520440" cy="1325880"/>
          </a:xfrm>
          <a:prstGeom prst="roundRect">
            <a:avLst>
              <a:gd name="adj" fmla="val 8276"/>
            </a:avLst>
          </a:prstGeom>
          <a:solidFill>
            <a:srgbClr val="EEF2FF"/>
          </a:solidFill>
          <a:ln w="12700">
            <a:solidFill>
              <a:srgbClr val="EEF2FF"/>
            </a:solidFill>
            <a:prstDash val="solid"/>
          </a:ln>
        </p:spPr>
      </p:sp>
      <p:sp>
        <p:nvSpPr>
          <p:cNvPr id="15" name="icono-fondo"/>
          <p:cNvSpPr/>
          <p:nvPr/>
        </p:nvSpPr>
        <p:spPr>
          <a:xfrm>
            <a:off x="8275320" y="1856232"/>
            <a:ext cx="713232" cy="713232"/>
          </a:xfrm>
          <a:prstGeom prst="ellipse">
            <a:avLst/>
          </a:prstGeom>
          <a:solidFill>
            <a:srgbClr val="4F46E5"/>
          </a:solidFill>
          <a:ln w="12700">
            <a:solidFill>
              <a:srgbClr val="4F46E5"/>
            </a:solidFill>
            <a:prstDash val="solid"/>
          </a:ln>
        </p:spPr>
      </p:sp>
      <p:pic>
        <p:nvPicPr>
          <p:cNvPr id="16" name="icono" descr="preencoded.png">    </p:cNvPr>
          <p:cNvPicPr>
            <a:picLocks noChangeAspect="1"/>
          </p:cNvPicPr>
          <p:nvPr/>
        </p:nvPicPr>
        <p:blipFill>
          <a:blip r:embed="rId3"/>
          <a:stretch>
            <a:fillRect/>
          </a:stretch>
        </p:blipFill>
        <p:spPr>
          <a:xfrm>
            <a:off x="8453628" y="2034540"/>
            <a:ext cx="356616" cy="356616"/>
          </a:xfrm>
          <a:prstGeom prst="rect">
            <a:avLst/>
          </a:prstGeom>
        </p:spPr>
      </p:pic>
      <p:sp>
        <p:nvSpPr>
          <p:cNvPr id="17" name="Text 12"/>
          <p:cNvSpPr txBox="1"/>
          <p:nvPr/>
        </p:nvSpPr>
        <p:spPr>
          <a:xfrm>
            <a:off x="9144000" y="1755648"/>
            <a:ext cx="2286000" cy="384048"/>
          </a:xfrm>
          <a:prstGeom prst="rect">
            <a:avLst/>
          </a:prstGeom>
          <a:noFill/>
          <a:ln/>
        </p:spPr>
        <p:txBody>
          <a:bodyPr wrap="square" lIns="0" tIns="0" rIns="0" bIns="0" rtlCol="0" anchor="t"/>
          <a:lstStyle/>
          <a:p>
            <a:pPr indent="0" marL="0">
              <a:buNone/>
            </a:pPr>
            <a:r>
              <a:rPr lang="en-US" sz="1800" b="1" dirty="0">
                <a:solidFill>
                  <a:schemeClr val="tx2"/>
                </a:solidFill>
              </a:rPr>
              <a:t>Invitados y QR</a:t>
            </a:r>
            <a:endParaRPr lang="en-US" sz="1800" dirty="0"/>
          </a:p>
        </p:txBody>
      </p:sp>
      <p:sp>
        <p:nvSpPr>
          <p:cNvPr id="18" name="Text 13"/>
          <p:cNvSpPr txBox="1"/>
          <p:nvPr/>
        </p:nvSpPr>
        <p:spPr>
          <a:xfrm>
            <a:off x="9144000" y="2148840"/>
            <a:ext cx="2286000" cy="640080"/>
          </a:xfrm>
          <a:prstGeom prst="rect">
            <a:avLst/>
          </a:prstGeom>
          <a:noFill/>
          <a:ln/>
        </p:spPr>
        <p:txBody>
          <a:bodyPr wrap="square" lIns="0" tIns="0" rIns="0" bIns="0" rtlCol="0" anchor="t"/>
          <a:lstStyle/>
          <a:p>
            <a:pPr indent="0" marL="0">
              <a:buNone/>
            </a:pPr>
            <a:r>
              <a:rPr lang="en-US" sz="1400" dirty="0">
                <a:solidFill>
                  <a:schemeClr val="tx1"/>
                </a:solidFill>
              </a:rPr>
              <a:t>Carga manual o CSV y un QR único por invitado</a:t>
            </a:r>
            <a:endParaRPr lang="en-US" sz="1400" dirty="0"/>
          </a:p>
        </p:txBody>
      </p:sp>
      <p:sp>
        <p:nvSpPr>
          <p:cNvPr id="19" name="tarjeta"/>
          <p:cNvSpPr/>
          <p:nvPr/>
        </p:nvSpPr>
        <p:spPr>
          <a:xfrm>
            <a:off x="548640" y="3063240"/>
            <a:ext cx="3520440" cy="1325880"/>
          </a:xfrm>
          <a:prstGeom prst="roundRect">
            <a:avLst>
              <a:gd name="adj" fmla="val 8276"/>
            </a:avLst>
          </a:prstGeom>
          <a:solidFill>
            <a:srgbClr val="EEF2FF"/>
          </a:solidFill>
          <a:ln w="12700">
            <a:solidFill>
              <a:srgbClr val="EEF2FF"/>
            </a:solidFill>
            <a:prstDash val="solid"/>
          </a:ln>
        </p:spPr>
      </p:sp>
      <p:sp>
        <p:nvSpPr>
          <p:cNvPr id="20" name="icono-fondo"/>
          <p:cNvSpPr/>
          <p:nvPr/>
        </p:nvSpPr>
        <p:spPr>
          <a:xfrm>
            <a:off x="777240" y="3364992"/>
            <a:ext cx="713232" cy="713232"/>
          </a:xfrm>
          <a:prstGeom prst="ellipse">
            <a:avLst/>
          </a:prstGeom>
          <a:solidFill>
            <a:srgbClr val="4F46E5"/>
          </a:solidFill>
          <a:ln w="12700">
            <a:solidFill>
              <a:srgbClr val="4F46E5"/>
            </a:solidFill>
            <a:prstDash val="solid"/>
          </a:ln>
        </p:spPr>
      </p:sp>
      <p:pic>
        <p:nvPicPr>
          <p:cNvPr id="21" name="icono" descr="preencoded.png">    </p:cNvPr>
          <p:cNvPicPr>
            <a:picLocks noChangeAspect="1"/>
          </p:cNvPicPr>
          <p:nvPr/>
        </p:nvPicPr>
        <p:blipFill>
          <a:blip r:embed="rId4"/>
          <a:stretch>
            <a:fillRect/>
          </a:stretch>
        </p:blipFill>
        <p:spPr>
          <a:xfrm>
            <a:off x="955548" y="3543300"/>
            <a:ext cx="356616" cy="356616"/>
          </a:xfrm>
          <a:prstGeom prst="rect">
            <a:avLst/>
          </a:prstGeom>
        </p:spPr>
      </p:pic>
      <p:sp>
        <p:nvSpPr>
          <p:cNvPr id="22" name="Text 16"/>
          <p:cNvSpPr txBox="1"/>
          <p:nvPr/>
        </p:nvSpPr>
        <p:spPr>
          <a:xfrm>
            <a:off x="1645920" y="3264408"/>
            <a:ext cx="2286000" cy="384048"/>
          </a:xfrm>
          <a:prstGeom prst="rect">
            <a:avLst/>
          </a:prstGeom>
          <a:noFill/>
          <a:ln/>
        </p:spPr>
        <p:txBody>
          <a:bodyPr wrap="square" lIns="0" tIns="0" rIns="0" bIns="0" rtlCol="0" anchor="t"/>
          <a:lstStyle/>
          <a:p>
            <a:pPr indent="0" marL="0">
              <a:buNone/>
            </a:pPr>
            <a:r>
              <a:rPr lang="en-US" sz="1800" b="1" dirty="0">
                <a:solidFill>
                  <a:schemeClr val="tx2"/>
                </a:solidFill>
              </a:rPr>
              <a:t>Invitaciones</a:t>
            </a:r>
            <a:endParaRPr lang="en-US" sz="1800" dirty="0"/>
          </a:p>
        </p:txBody>
      </p:sp>
      <p:sp>
        <p:nvSpPr>
          <p:cNvPr id="23" name="Text 17"/>
          <p:cNvSpPr txBox="1"/>
          <p:nvPr/>
        </p:nvSpPr>
        <p:spPr>
          <a:xfrm>
            <a:off x="1645920" y="3657600"/>
            <a:ext cx="2286000" cy="640080"/>
          </a:xfrm>
          <a:prstGeom prst="rect">
            <a:avLst/>
          </a:prstGeom>
          <a:noFill/>
          <a:ln/>
        </p:spPr>
        <p:txBody>
          <a:bodyPr wrap="square" lIns="0" tIns="0" rIns="0" bIns="0" rtlCol="0" anchor="t"/>
          <a:lstStyle/>
          <a:p>
            <a:pPr indent="0" marL="0">
              <a:buNone/>
            </a:pPr>
            <a:r>
              <a:rPr lang="en-US" sz="1400" dirty="0">
                <a:solidFill>
                  <a:schemeClr val="tx1"/>
                </a:solidFill>
              </a:rPr>
              <a:t>El QR por mail y confirmación sin cuenta</a:t>
            </a:r>
            <a:endParaRPr lang="en-US" sz="1400" dirty="0"/>
          </a:p>
        </p:txBody>
      </p:sp>
      <p:sp>
        <p:nvSpPr>
          <p:cNvPr id="24" name="tarjeta"/>
          <p:cNvSpPr/>
          <p:nvPr/>
        </p:nvSpPr>
        <p:spPr>
          <a:xfrm>
            <a:off x="4297680" y="3063240"/>
            <a:ext cx="3520440" cy="1325880"/>
          </a:xfrm>
          <a:prstGeom prst="roundRect">
            <a:avLst>
              <a:gd name="adj" fmla="val 8276"/>
            </a:avLst>
          </a:prstGeom>
          <a:solidFill>
            <a:srgbClr val="EEF2FF"/>
          </a:solidFill>
          <a:ln w="12700">
            <a:solidFill>
              <a:srgbClr val="EEF2FF"/>
            </a:solidFill>
            <a:prstDash val="solid"/>
          </a:ln>
        </p:spPr>
      </p:sp>
      <p:sp>
        <p:nvSpPr>
          <p:cNvPr id="25" name="icono-fondo"/>
          <p:cNvSpPr/>
          <p:nvPr/>
        </p:nvSpPr>
        <p:spPr>
          <a:xfrm>
            <a:off x="4526280" y="3364992"/>
            <a:ext cx="713232" cy="713232"/>
          </a:xfrm>
          <a:prstGeom prst="ellipse">
            <a:avLst/>
          </a:prstGeom>
          <a:solidFill>
            <a:srgbClr val="4F46E5"/>
          </a:solidFill>
          <a:ln w="12700">
            <a:solidFill>
              <a:srgbClr val="4F46E5"/>
            </a:solidFill>
            <a:prstDash val="solid"/>
          </a:ln>
        </p:spPr>
      </p:sp>
      <p:pic>
        <p:nvPicPr>
          <p:cNvPr id="26" name="icono" descr="preencoded.png">    </p:cNvPr>
          <p:cNvPicPr>
            <a:picLocks noChangeAspect="1"/>
          </p:cNvPicPr>
          <p:nvPr/>
        </p:nvPicPr>
        <p:blipFill>
          <a:blip r:embed="rId5"/>
          <a:stretch>
            <a:fillRect/>
          </a:stretch>
        </p:blipFill>
        <p:spPr>
          <a:xfrm>
            <a:off x="4704588" y="3543300"/>
            <a:ext cx="356616" cy="356616"/>
          </a:xfrm>
          <a:prstGeom prst="rect">
            <a:avLst/>
          </a:prstGeom>
        </p:spPr>
      </p:pic>
      <p:sp>
        <p:nvSpPr>
          <p:cNvPr id="27" name="Text 20"/>
          <p:cNvSpPr txBox="1"/>
          <p:nvPr/>
        </p:nvSpPr>
        <p:spPr>
          <a:xfrm>
            <a:off x="5394960" y="3264408"/>
            <a:ext cx="2286000" cy="384048"/>
          </a:xfrm>
          <a:prstGeom prst="rect">
            <a:avLst/>
          </a:prstGeom>
          <a:noFill/>
          <a:ln/>
        </p:spPr>
        <p:txBody>
          <a:bodyPr wrap="square" lIns="0" tIns="0" rIns="0" bIns="0" rtlCol="0" anchor="t"/>
          <a:lstStyle/>
          <a:p>
            <a:pPr indent="0" marL="0">
              <a:buNone/>
            </a:pPr>
            <a:r>
              <a:rPr lang="en-US" sz="1800" b="1" dirty="0">
                <a:solidFill>
                  <a:schemeClr val="tx2"/>
                </a:solidFill>
              </a:rPr>
              <a:t>Check-in</a:t>
            </a:r>
            <a:endParaRPr lang="en-US" sz="1800" dirty="0"/>
          </a:p>
        </p:txBody>
      </p:sp>
      <p:sp>
        <p:nvSpPr>
          <p:cNvPr id="28" name="Text 21"/>
          <p:cNvSpPr txBox="1"/>
          <p:nvPr/>
        </p:nvSpPr>
        <p:spPr>
          <a:xfrm>
            <a:off x="5394960" y="3657600"/>
            <a:ext cx="2286000" cy="640080"/>
          </a:xfrm>
          <a:prstGeom prst="rect">
            <a:avLst/>
          </a:prstGeom>
          <a:noFill/>
          <a:ln/>
        </p:spPr>
        <p:txBody>
          <a:bodyPr wrap="square" lIns="0" tIns="0" rIns="0" bIns="0" rtlCol="0" anchor="t"/>
          <a:lstStyle/>
          <a:p>
            <a:pPr indent="0" marL="0">
              <a:buNone/>
            </a:pPr>
            <a:r>
              <a:rPr lang="en-US" sz="1400" dirty="0">
                <a:solidFill>
                  <a:schemeClr val="tx1"/>
                </a:solidFill>
              </a:rPr>
              <a:t>Cámara, foto, código o botón, con validaciones</a:t>
            </a:r>
            <a:endParaRPr lang="en-US" sz="1400" dirty="0"/>
          </a:p>
        </p:txBody>
      </p:sp>
      <p:sp>
        <p:nvSpPr>
          <p:cNvPr id="29" name="tarjeta"/>
          <p:cNvSpPr/>
          <p:nvPr/>
        </p:nvSpPr>
        <p:spPr>
          <a:xfrm>
            <a:off x="8046720" y="3063240"/>
            <a:ext cx="3520440" cy="1325880"/>
          </a:xfrm>
          <a:prstGeom prst="roundRect">
            <a:avLst>
              <a:gd name="adj" fmla="val 8276"/>
            </a:avLst>
          </a:prstGeom>
          <a:solidFill>
            <a:srgbClr val="EEF2FF"/>
          </a:solidFill>
          <a:ln w="12700">
            <a:solidFill>
              <a:srgbClr val="EEF2FF"/>
            </a:solidFill>
            <a:prstDash val="solid"/>
          </a:ln>
        </p:spPr>
      </p:sp>
      <p:sp>
        <p:nvSpPr>
          <p:cNvPr id="30" name="icono-fondo"/>
          <p:cNvSpPr/>
          <p:nvPr/>
        </p:nvSpPr>
        <p:spPr>
          <a:xfrm>
            <a:off x="8275320" y="3364992"/>
            <a:ext cx="713232" cy="713232"/>
          </a:xfrm>
          <a:prstGeom prst="ellipse">
            <a:avLst/>
          </a:prstGeom>
          <a:solidFill>
            <a:srgbClr val="4F46E5"/>
          </a:solidFill>
          <a:ln w="12700">
            <a:solidFill>
              <a:srgbClr val="4F46E5"/>
            </a:solidFill>
            <a:prstDash val="solid"/>
          </a:ln>
        </p:spPr>
      </p:sp>
      <p:pic>
        <p:nvPicPr>
          <p:cNvPr id="31" name="icono" descr="preencoded.png">    </p:cNvPr>
          <p:cNvPicPr>
            <a:picLocks noChangeAspect="1"/>
          </p:cNvPicPr>
          <p:nvPr/>
        </p:nvPicPr>
        <p:blipFill>
          <a:blip r:embed="rId6"/>
          <a:stretch>
            <a:fillRect/>
          </a:stretch>
        </p:blipFill>
        <p:spPr>
          <a:xfrm>
            <a:off x="8453628" y="3543300"/>
            <a:ext cx="356616" cy="356616"/>
          </a:xfrm>
          <a:prstGeom prst="rect">
            <a:avLst/>
          </a:prstGeom>
        </p:spPr>
      </p:pic>
      <p:sp>
        <p:nvSpPr>
          <p:cNvPr id="32" name="Text 24"/>
          <p:cNvSpPr txBox="1"/>
          <p:nvPr/>
        </p:nvSpPr>
        <p:spPr>
          <a:xfrm>
            <a:off x="9144000" y="3264408"/>
            <a:ext cx="2286000" cy="384048"/>
          </a:xfrm>
          <a:prstGeom prst="rect">
            <a:avLst/>
          </a:prstGeom>
          <a:noFill/>
          <a:ln/>
        </p:spPr>
        <p:txBody>
          <a:bodyPr wrap="square" lIns="0" tIns="0" rIns="0" bIns="0" rtlCol="0" anchor="t"/>
          <a:lstStyle/>
          <a:p>
            <a:pPr indent="0" marL="0">
              <a:buNone/>
            </a:pPr>
            <a:r>
              <a:rPr lang="en-US" sz="1800" b="1" dirty="0">
                <a:solidFill>
                  <a:schemeClr val="tx2"/>
                </a:solidFill>
              </a:rPr>
              <a:t>Gastos</a:t>
            </a:r>
            <a:endParaRPr lang="en-US" sz="1800" dirty="0"/>
          </a:p>
        </p:txBody>
      </p:sp>
      <p:sp>
        <p:nvSpPr>
          <p:cNvPr id="33" name="Text 25"/>
          <p:cNvSpPr txBox="1"/>
          <p:nvPr/>
        </p:nvSpPr>
        <p:spPr>
          <a:xfrm>
            <a:off x="9144000" y="3657600"/>
            <a:ext cx="2286000" cy="640080"/>
          </a:xfrm>
          <a:prstGeom prst="rect">
            <a:avLst/>
          </a:prstGeom>
          <a:noFill/>
          <a:ln/>
        </p:spPr>
        <p:txBody>
          <a:bodyPr wrap="square" lIns="0" tIns="0" rIns="0" bIns="0" rtlCol="0" anchor="t"/>
          <a:lstStyle/>
          <a:p>
            <a:pPr indent="0" marL="0">
              <a:buNone/>
            </a:pPr>
            <a:r>
              <a:rPr lang="en-US" sz="1400" dirty="0">
                <a:solidFill>
                  <a:schemeClr val="tx1"/>
                </a:solidFill>
              </a:rPr>
              <a:t>Presupuesto con alerta al 80 % y al superarlo</a:t>
            </a:r>
            <a:endParaRPr lang="en-US" sz="1400" dirty="0"/>
          </a:p>
        </p:txBody>
      </p:sp>
      <p:sp>
        <p:nvSpPr>
          <p:cNvPr id="34" name="tarjeta"/>
          <p:cNvSpPr/>
          <p:nvPr/>
        </p:nvSpPr>
        <p:spPr>
          <a:xfrm>
            <a:off x="548640" y="4572000"/>
            <a:ext cx="3520440" cy="1325880"/>
          </a:xfrm>
          <a:prstGeom prst="roundRect">
            <a:avLst>
              <a:gd name="adj" fmla="val 8276"/>
            </a:avLst>
          </a:prstGeom>
          <a:solidFill>
            <a:srgbClr val="EEF2FF"/>
          </a:solidFill>
          <a:ln w="12700">
            <a:solidFill>
              <a:srgbClr val="EEF2FF"/>
            </a:solidFill>
            <a:prstDash val="solid"/>
          </a:ln>
        </p:spPr>
      </p:sp>
      <p:sp>
        <p:nvSpPr>
          <p:cNvPr id="35" name="icono-fondo"/>
          <p:cNvSpPr/>
          <p:nvPr/>
        </p:nvSpPr>
        <p:spPr>
          <a:xfrm>
            <a:off x="777240" y="4873752"/>
            <a:ext cx="713232" cy="713232"/>
          </a:xfrm>
          <a:prstGeom prst="ellipse">
            <a:avLst/>
          </a:prstGeom>
          <a:solidFill>
            <a:srgbClr val="4F46E5"/>
          </a:solidFill>
          <a:ln w="12700">
            <a:solidFill>
              <a:srgbClr val="4F46E5"/>
            </a:solidFill>
            <a:prstDash val="solid"/>
          </a:ln>
        </p:spPr>
      </p:sp>
      <p:pic>
        <p:nvPicPr>
          <p:cNvPr id="36" name="icono" descr="preencoded.png">    </p:cNvPr>
          <p:cNvPicPr>
            <a:picLocks noChangeAspect="1"/>
          </p:cNvPicPr>
          <p:nvPr/>
        </p:nvPicPr>
        <p:blipFill>
          <a:blip r:embed="rId7"/>
          <a:stretch>
            <a:fillRect/>
          </a:stretch>
        </p:blipFill>
        <p:spPr>
          <a:xfrm>
            <a:off x="955548" y="5052060"/>
            <a:ext cx="356616" cy="356616"/>
          </a:xfrm>
          <a:prstGeom prst="rect">
            <a:avLst/>
          </a:prstGeom>
        </p:spPr>
      </p:pic>
      <p:sp>
        <p:nvSpPr>
          <p:cNvPr id="37" name="Text 28"/>
          <p:cNvSpPr txBox="1"/>
          <p:nvPr/>
        </p:nvSpPr>
        <p:spPr>
          <a:xfrm>
            <a:off x="1645920" y="4773168"/>
            <a:ext cx="2286000" cy="384048"/>
          </a:xfrm>
          <a:prstGeom prst="rect">
            <a:avLst/>
          </a:prstGeom>
          <a:noFill/>
          <a:ln/>
        </p:spPr>
        <p:txBody>
          <a:bodyPr wrap="square" lIns="0" tIns="0" rIns="0" bIns="0" rtlCol="0" anchor="t"/>
          <a:lstStyle/>
          <a:p>
            <a:pPr indent="0" marL="0">
              <a:buNone/>
            </a:pPr>
            <a:r>
              <a:rPr lang="en-US" sz="1800" b="1" dirty="0">
                <a:solidFill>
                  <a:schemeClr val="tx2"/>
                </a:solidFill>
              </a:rPr>
              <a:t>Reportes</a:t>
            </a:r>
            <a:endParaRPr lang="en-US" sz="1800" dirty="0"/>
          </a:p>
        </p:txBody>
      </p:sp>
      <p:sp>
        <p:nvSpPr>
          <p:cNvPr id="38" name="Text 29"/>
          <p:cNvSpPr txBox="1"/>
          <p:nvPr/>
        </p:nvSpPr>
        <p:spPr>
          <a:xfrm>
            <a:off x="1645920" y="5166360"/>
            <a:ext cx="2286000" cy="640080"/>
          </a:xfrm>
          <a:prstGeom prst="rect">
            <a:avLst/>
          </a:prstGeom>
          <a:noFill/>
          <a:ln/>
        </p:spPr>
        <p:txBody>
          <a:bodyPr wrap="square" lIns="0" tIns="0" rIns="0" bIns="0" rtlCol="0" anchor="t"/>
          <a:lstStyle/>
          <a:p>
            <a:pPr indent="0" marL="0">
              <a:buNone/>
            </a:pPr>
            <a:r>
              <a:rPr lang="en-US" sz="1400" dirty="0">
                <a:solidFill>
                  <a:schemeClr val="tx1"/>
                </a:solidFill>
              </a:rPr>
              <a:t>Asistencia y gastos en Excel con formato</a:t>
            </a:r>
            <a:endParaRPr lang="en-US" sz="1400" dirty="0"/>
          </a:p>
        </p:txBody>
      </p:sp>
      <p:sp>
        <p:nvSpPr>
          <p:cNvPr id="39" name="tarjeta"/>
          <p:cNvSpPr/>
          <p:nvPr/>
        </p:nvSpPr>
        <p:spPr>
          <a:xfrm>
            <a:off x="4297680" y="4572000"/>
            <a:ext cx="3520440" cy="1325880"/>
          </a:xfrm>
          <a:prstGeom prst="roundRect">
            <a:avLst>
              <a:gd name="adj" fmla="val 8276"/>
            </a:avLst>
          </a:prstGeom>
          <a:solidFill>
            <a:srgbClr val="EEF2FF"/>
          </a:solidFill>
          <a:ln w="12700">
            <a:solidFill>
              <a:srgbClr val="EEF2FF"/>
            </a:solidFill>
            <a:prstDash val="solid"/>
          </a:ln>
        </p:spPr>
      </p:sp>
      <p:sp>
        <p:nvSpPr>
          <p:cNvPr id="40" name="icono-fondo"/>
          <p:cNvSpPr/>
          <p:nvPr/>
        </p:nvSpPr>
        <p:spPr>
          <a:xfrm>
            <a:off x="4526280" y="4873752"/>
            <a:ext cx="713232" cy="713232"/>
          </a:xfrm>
          <a:prstGeom prst="ellipse">
            <a:avLst/>
          </a:prstGeom>
          <a:solidFill>
            <a:srgbClr val="4F46E5"/>
          </a:solidFill>
          <a:ln w="12700">
            <a:solidFill>
              <a:srgbClr val="4F46E5"/>
            </a:solidFill>
            <a:prstDash val="solid"/>
          </a:ln>
        </p:spPr>
      </p:sp>
      <p:pic>
        <p:nvPicPr>
          <p:cNvPr id="41" name="icono" descr="preencoded.png">    </p:cNvPr>
          <p:cNvPicPr>
            <a:picLocks noChangeAspect="1"/>
          </p:cNvPicPr>
          <p:nvPr/>
        </p:nvPicPr>
        <p:blipFill>
          <a:blip r:embed="rId8"/>
          <a:stretch>
            <a:fillRect/>
          </a:stretch>
        </p:blipFill>
        <p:spPr>
          <a:xfrm>
            <a:off x="4704588" y="5052060"/>
            <a:ext cx="356616" cy="356616"/>
          </a:xfrm>
          <a:prstGeom prst="rect">
            <a:avLst/>
          </a:prstGeom>
        </p:spPr>
      </p:pic>
      <p:sp>
        <p:nvSpPr>
          <p:cNvPr id="42" name="Text 32"/>
          <p:cNvSpPr txBox="1"/>
          <p:nvPr/>
        </p:nvSpPr>
        <p:spPr>
          <a:xfrm>
            <a:off x="5394960" y="4773168"/>
            <a:ext cx="2286000" cy="384048"/>
          </a:xfrm>
          <a:prstGeom prst="rect">
            <a:avLst/>
          </a:prstGeom>
          <a:noFill/>
          <a:ln/>
        </p:spPr>
        <p:txBody>
          <a:bodyPr wrap="square" lIns="0" tIns="0" rIns="0" bIns="0" rtlCol="0" anchor="t"/>
          <a:lstStyle/>
          <a:p>
            <a:pPr indent="0" marL="0">
              <a:buNone/>
            </a:pPr>
            <a:r>
              <a:rPr lang="en-US" sz="1800" b="1" dirty="0">
                <a:solidFill>
                  <a:schemeClr val="tx2"/>
                </a:solidFill>
              </a:rPr>
              <a:t>Colaboradores</a:t>
            </a:r>
            <a:endParaRPr lang="en-US" sz="1800" dirty="0"/>
          </a:p>
        </p:txBody>
      </p:sp>
      <p:sp>
        <p:nvSpPr>
          <p:cNvPr id="43" name="Text 33"/>
          <p:cNvSpPr txBox="1"/>
          <p:nvPr/>
        </p:nvSpPr>
        <p:spPr>
          <a:xfrm>
            <a:off x="5394960" y="5166360"/>
            <a:ext cx="2286000" cy="640080"/>
          </a:xfrm>
          <a:prstGeom prst="rect">
            <a:avLst/>
          </a:prstGeom>
          <a:noFill/>
          <a:ln/>
        </p:spPr>
        <p:txBody>
          <a:bodyPr wrap="square" lIns="0" tIns="0" rIns="0" bIns="0" rtlCol="0" anchor="t"/>
          <a:lstStyle/>
          <a:p>
            <a:pPr indent="0" marL="0">
              <a:buNone/>
            </a:pPr>
            <a:r>
              <a:rPr lang="en-US" sz="1400" dirty="0">
                <a:solidFill>
                  <a:schemeClr val="tx1"/>
                </a:solidFill>
              </a:rPr>
              <a:t>Ayuda en la puerta sin acceso al resto</a:t>
            </a:r>
            <a:endParaRPr lang="en-US" sz="1400" dirty="0"/>
          </a:p>
        </p:txBody>
      </p:sp>
      <p:sp>
        <p:nvSpPr>
          <p:cNvPr id="44" name="tarjeta"/>
          <p:cNvSpPr/>
          <p:nvPr/>
        </p:nvSpPr>
        <p:spPr>
          <a:xfrm>
            <a:off x="8046720" y="4572000"/>
            <a:ext cx="3520440" cy="1325880"/>
          </a:xfrm>
          <a:prstGeom prst="roundRect">
            <a:avLst>
              <a:gd name="adj" fmla="val 8276"/>
            </a:avLst>
          </a:prstGeom>
          <a:solidFill>
            <a:srgbClr val="EEF2FF"/>
          </a:solidFill>
          <a:ln w="12700">
            <a:solidFill>
              <a:srgbClr val="EEF2FF"/>
            </a:solidFill>
            <a:prstDash val="solid"/>
          </a:ln>
        </p:spPr>
      </p:sp>
      <p:sp>
        <p:nvSpPr>
          <p:cNvPr id="45" name="icono-fondo"/>
          <p:cNvSpPr/>
          <p:nvPr/>
        </p:nvSpPr>
        <p:spPr>
          <a:xfrm>
            <a:off x="8275320" y="4873752"/>
            <a:ext cx="713232" cy="713232"/>
          </a:xfrm>
          <a:prstGeom prst="ellipse">
            <a:avLst/>
          </a:prstGeom>
          <a:solidFill>
            <a:srgbClr val="4F46E5"/>
          </a:solidFill>
          <a:ln w="12700">
            <a:solidFill>
              <a:srgbClr val="4F46E5"/>
            </a:solidFill>
            <a:prstDash val="solid"/>
          </a:ln>
        </p:spPr>
      </p:sp>
      <p:pic>
        <p:nvPicPr>
          <p:cNvPr id="46" name="icono" descr="preencoded.png">    </p:cNvPr>
          <p:cNvPicPr>
            <a:picLocks noChangeAspect="1"/>
          </p:cNvPicPr>
          <p:nvPr/>
        </p:nvPicPr>
        <p:blipFill>
          <a:blip r:embed="rId9"/>
          <a:stretch>
            <a:fillRect/>
          </a:stretch>
        </p:blipFill>
        <p:spPr>
          <a:xfrm>
            <a:off x="8453628" y="5052060"/>
            <a:ext cx="356616" cy="356616"/>
          </a:xfrm>
          <a:prstGeom prst="rect">
            <a:avLst/>
          </a:prstGeom>
        </p:spPr>
      </p:pic>
      <p:sp>
        <p:nvSpPr>
          <p:cNvPr id="47" name="Text 36"/>
          <p:cNvSpPr txBox="1"/>
          <p:nvPr/>
        </p:nvSpPr>
        <p:spPr>
          <a:xfrm>
            <a:off x="9144000" y="4773168"/>
            <a:ext cx="2286000" cy="384048"/>
          </a:xfrm>
          <a:prstGeom prst="rect">
            <a:avLst/>
          </a:prstGeom>
          <a:noFill/>
          <a:ln/>
        </p:spPr>
        <p:txBody>
          <a:bodyPr wrap="square" lIns="0" tIns="0" rIns="0" bIns="0" rtlCol="0" anchor="t"/>
          <a:lstStyle/>
          <a:p>
            <a:pPr indent="0" marL="0">
              <a:buNone/>
            </a:pPr>
            <a:r>
              <a:rPr lang="en-US" sz="1800" b="1" dirty="0">
                <a:solidFill>
                  <a:schemeClr val="tx2"/>
                </a:solidFill>
              </a:rPr>
              <a:t>Celular</a:t>
            </a:r>
            <a:endParaRPr lang="en-US" sz="1800" dirty="0"/>
          </a:p>
        </p:txBody>
      </p:sp>
      <p:sp>
        <p:nvSpPr>
          <p:cNvPr id="48" name="Text 37"/>
          <p:cNvSpPr txBox="1"/>
          <p:nvPr/>
        </p:nvSpPr>
        <p:spPr>
          <a:xfrm>
            <a:off x="9144000" y="5166360"/>
            <a:ext cx="2286000" cy="640080"/>
          </a:xfrm>
          <a:prstGeom prst="rect">
            <a:avLst/>
          </a:prstGeom>
          <a:noFill/>
          <a:ln/>
        </p:spPr>
        <p:txBody>
          <a:bodyPr wrap="square" lIns="0" tIns="0" rIns="0" bIns="0" rtlCol="0" anchor="t"/>
          <a:lstStyle/>
          <a:p>
            <a:pPr indent="0" marL="0">
              <a:buNone/>
            </a:pPr>
            <a:r>
              <a:rPr lang="en-US" sz="1400" dirty="0">
                <a:solidFill>
                  <a:schemeClr val="tx1"/>
                </a:solidFill>
              </a:rPr>
              <a:t>HTTPS, menú ☰ y pantallas adaptadas</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320040"/>
          </a:xfrm>
          <a:prstGeom prst="rect">
            <a:avLst/>
          </a:prstGeom>
          <a:noFill/>
          <a:ln/>
        </p:spPr>
        <p:txBody>
          <a:bodyPr wrap="square" lIns="0" tIns="0" rIns="0" bIns="0" rtlCol="0"/>
          <a:lstStyle/>
          <a:p>
            <a:pPr indent="0" marL="0">
              <a:buNone/>
            </a:pPr>
            <a:r>
              <a:rPr lang="en-US" sz="1200" b="1" spc="200" kern="0" dirty="0">
                <a:solidFill>
                  <a:schemeClr val="accent1"/>
                </a:solidFill>
              </a:rPr>
              <a:t>02 · FUNCIONALIDADES</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400" b="1" dirty="0">
                <a:solidFill>
                  <a:schemeClr val="tx2"/>
                </a:solidFill>
              </a:rPr>
              <a:t>Eventos e invitados</a:t>
            </a:r>
            <a:endParaRPr lang="en-US" sz="3400" dirty="0"/>
          </a:p>
        </p:txBody>
      </p:sp>
      <p:sp>
        <p:nvSpPr>
          <p:cNvPr id="4" name="ventana"/>
          <p:cNvSpPr/>
          <p:nvPr/>
        </p:nvSpPr>
        <p:spPr>
          <a:xfrm>
            <a:off x="548640" y="1463040"/>
            <a:ext cx="6949440" cy="4544568"/>
          </a:xfrm>
          <a:prstGeom prst="roundRect">
            <a:avLst>
              <a:gd name="adj" fmla="val 1610"/>
            </a:avLst>
          </a:prstGeom>
          <a:solidFill>
            <a:srgbClr val="E5E7EB"/>
          </a:solidFill>
          <a:ln w="9525">
            <a:solidFill>
              <a:srgbClr val="D1D5DB"/>
            </a:solidFill>
            <a:prstDash val="solid"/>
          </a:ln>
          <a:effectLst>
            <a:outerShdw sx="100000" sy="100000" kx="0" ky="0" algn="bl" rotWithShape="0" blurRad="101600" dist="38100" dir="5400000">
              <a:srgbClr val="000000">
                <a:alpha val="18000"/>
              </a:srgbClr>
            </a:outerShdw>
          </a:effectLst>
        </p:spPr>
      </p:sp>
      <p:sp>
        <p:nvSpPr>
          <p:cNvPr id="5" name="Shape 3"/>
          <p:cNvSpPr/>
          <p:nvPr/>
        </p:nvSpPr>
        <p:spPr>
          <a:xfrm>
            <a:off x="658368" y="1517904"/>
            <a:ext cx="91440" cy="91440"/>
          </a:xfrm>
          <a:prstGeom prst="ellipse">
            <a:avLst/>
          </a:prstGeom>
          <a:solidFill>
            <a:srgbClr val="F87171"/>
          </a:solidFill>
          <a:ln w="12700">
            <a:solidFill>
              <a:srgbClr val="F87171"/>
            </a:solidFill>
            <a:prstDash val="solid"/>
          </a:ln>
        </p:spPr>
      </p:sp>
      <p:sp>
        <p:nvSpPr>
          <p:cNvPr id="6" name="Shape 4"/>
          <p:cNvSpPr/>
          <p:nvPr/>
        </p:nvSpPr>
        <p:spPr>
          <a:xfrm>
            <a:off x="804672" y="1517904"/>
            <a:ext cx="91440" cy="91440"/>
          </a:xfrm>
          <a:prstGeom prst="ellipse">
            <a:avLst/>
          </a:prstGeom>
          <a:solidFill>
            <a:srgbClr val="FBBF24"/>
          </a:solidFill>
          <a:ln w="12700">
            <a:solidFill>
              <a:srgbClr val="FBBF24"/>
            </a:solidFill>
            <a:prstDash val="solid"/>
          </a:ln>
        </p:spPr>
      </p:sp>
      <p:sp>
        <p:nvSpPr>
          <p:cNvPr id="7" name="Shape 5"/>
          <p:cNvSpPr/>
          <p:nvPr/>
        </p:nvSpPr>
        <p:spPr>
          <a:xfrm>
            <a:off x="950976" y="1517904"/>
            <a:ext cx="91440" cy="91440"/>
          </a:xfrm>
          <a:prstGeom prst="ellipse">
            <a:avLst/>
          </a:prstGeom>
          <a:solidFill>
            <a:srgbClr val="34D399"/>
          </a:solidFill>
          <a:ln w="12700">
            <a:solidFill>
              <a:srgbClr val="34D399"/>
            </a:solidFill>
            <a:prstDash val="solid"/>
          </a:ln>
        </p:spPr>
      </p:sp>
      <p:pic>
        <p:nvPicPr>
          <p:cNvPr id="8" name="captura" descr="/tmp/claude-0/ppt/img/d_invitados.jpg">    </p:cNvPr>
          <p:cNvPicPr>
            <a:picLocks noChangeAspect="1"/>
          </p:cNvPicPr>
          <p:nvPr/>
        </p:nvPicPr>
        <p:blipFill>
          <a:blip r:embed="rId1"/>
          <a:stretch>
            <a:fillRect/>
          </a:stretch>
        </p:blipFill>
        <p:spPr>
          <a:xfrm>
            <a:off x="548640" y="1664208"/>
            <a:ext cx="6949440" cy="4343400"/>
          </a:xfrm>
          <a:prstGeom prst="rect">
            <a:avLst/>
          </a:prstGeom>
        </p:spPr>
      </p:pic>
      <p:sp>
        <p:nvSpPr>
          <p:cNvPr id="9" name="icono-fondo"/>
          <p:cNvSpPr/>
          <p:nvPr/>
        </p:nvSpPr>
        <p:spPr>
          <a:xfrm>
            <a:off x="7863840" y="1554480"/>
            <a:ext cx="548640" cy="548640"/>
          </a:xfrm>
          <a:prstGeom prst="ellipse">
            <a:avLst/>
          </a:prstGeom>
          <a:solidFill>
            <a:srgbClr val="4F46E5"/>
          </a:solidFill>
          <a:ln w="12700">
            <a:solidFill>
              <a:srgbClr val="4F46E5"/>
            </a:solidFill>
            <a:prstDash val="solid"/>
          </a:ln>
        </p:spPr>
      </p:sp>
      <p:pic>
        <p:nvPicPr>
          <p:cNvPr id="10" name="icono" descr="preencoded.png">    </p:cNvPr>
          <p:cNvPicPr>
            <a:picLocks noChangeAspect="1"/>
          </p:cNvPicPr>
          <p:nvPr/>
        </p:nvPicPr>
        <p:blipFill>
          <a:blip r:embed="rId2"/>
          <a:stretch>
            <a:fillRect/>
          </a:stretch>
        </p:blipFill>
        <p:spPr>
          <a:xfrm>
            <a:off x="8001000" y="1691640"/>
            <a:ext cx="274320" cy="274320"/>
          </a:xfrm>
          <a:prstGeom prst="rect">
            <a:avLst/>
          </a:prstGeom>
        </p:spPr>
      </p:pic>
      <p:sp>
        <p:nvSpPr>
          <p:cNvPr id="11" name="Text 7"/>
          <p:cNvSpPr txBox="1"/>
          <p:nvPr/>
        </p:nvSpPr>
        <p:spPr>
          <a:xfrm>
            <a:off x="8595360" y="1536192"/>
            <a:ext cx="3108960" cy="365760"/>
          </a:xfrm>
          <a:prstGeom prst="rect">
            <a:avLst/>
          </a:prstGeom>
          <a:noFill/>
          <a:ln/>
        </p:spPr>
        <p:txBody>
          <a:bodyPr wrap="square" lIns="0" tIns="0" rIns="0" bIns="0" rtlCol="0" anchor="t"/>
          <a:lstStyle/>
          <a:p>
            <a:pPr indent="0" marL="0">
              <a:buNone/>
            </a:pPr>
            <a:r>
              <a:rPr lang="en-US" sz="1700" b="1" dirty="0">
                <a:solidFill>
                  <a:schemeClr val="tx2"/>
                </a:solidFill>
              </a:rPr>
              <a:t>Borrador → activo → finalizado</a:t>
            </a:r>
            <a:endParaRPr lang="en-US" sz="1700" dirty="0"/>
          </a:p>
        </p:txBody>
      </p:sp>
      <p:sp>
        <p:nvSpPr>
          <p:cNvPr id="12" name="Text 8"/>
          <p:cNvSpPr txBox="1"/>
          <p:nvPr/>
        </p:nvSpPr>
        <p:spPr>
          <a:xfrm>
            <a:off x="8595360" y="1883664"/>
            <a:ext cx="3108960" cy="685800"/>
          </a:xfrm>
          <a:prstGeom prst="rect">
            <a:avLst/>
          </a:prstGeom>
          <a:noFill/>
          <a:ln/>
        </p:spPr>
        <p:txBody>
          <a:bodyPr wrap="square" lIns="0" tIns="0" rIns="0" bIns="0" rtlCol="0" anchor="t"/>
          <a:lstStyle/>
          <a:p>
            <a:pPr indent="0" marL="0">
              <a:buNone/>
            </a:pPr>
            <a:r>
              <a:rPr lang="en-US" sz="1400" dirty="0">
                <a:solidFill>
                  <a:schemeClr val="tx1"/>
                </a:solidFill>
              </a:rPr>
              <a:t>Se activa para invitar y hacer check-in; finalizado ya no admite ingresos.</a:t>
            </a:r>
            <a:endParaRPr lang="en-US" sz="1400" dirty="0"/>
          </a:p>
        </p:txBody>
      </p:sp>
      <p:sp>
        <p:nvSpPr>
          <p:cNvPr id="13" name="icono-fondo"/>
          <p:cNvSpPr/>
          <p:nvPr/>
        </p:nvSpPr>
        <p:spPr>
          <a:xfrm>
            <a:off x="7863840" y="2670048"/>
            <a:ext cx="548640" cy="548640"/>
          </a:xfrm>
          <a:prstGeom prst="ellipse">
            <a:avLst/>
          </a:prstGeom>
          <a:solidFill>
            <a:srgbClr val="4F46E5"/>
          </a:solidFill>
          <a:ln w="12700">
            <a:solidFill>
              <a:srgbClr val="4F46E5"/>
            </a:solidFill>
            <a:prstDash val="solid"/>
          </a:ln>
        </p:spPr>
      </p:sp>
      <p:pic>
        <p:nvPicPr>
          <p:cNvPr id="14" name="icono" descr="preencoded.png">    </p:cNvPr>
          <p:cNvPicPr>
            <a:picLocks noChangeAspect="1"/>
          </p:cNvPicPr>
          <p:nvPr/>
        </p:nvPicPr>
        <p:blipFill>
          <a:blip r:embed="rId3"/>
          <a:stretch>
            <a:fillRect/>
          </a:stretch>
        </p:blipFill>
        <p:spPr>
          <a:xfrm>
            <a:off x="8001000" y="2807208"/>
            <a:ext cx="274320" cy="274320"/>
          </a:xfrm>
          <a:prstGeom prst="rect">
            <a:avLst/>
          </a:prstGeom>
        </p:spPr>
      </p:pic>
      <p:sp>
        <p:nvSpPr>
          <p:cNvPr id="15" name="Text 10"/>
          <p:cNvSpPr txBox="1"/>
          <p:nvPr/>
        </p:nvSpPr>
        <p:spPr>
          <a:xfrm>
            <a:off x="8595360" y="2651760"/>
            <a:ext cx="3108960" cy="365760"/>
          </a:xfrm>
          <a:prstGeom prst="rect">
            <a:avLst/>
          </a:prstGeom>
          <a:noFill/>
          <a:ln/>
        </p:spPr>
        <p:txBody>
          <a:bodyPr wrap="square" lIns="0" tIns="0" rIns="0" bIns="0" rtlCol="0" anchor="t"/>
          <a:lstStyle/>
          <a:p>
            <a:pPr indent="0" marL="0">
              <a:buNone/>
            </a:pPr>
            <a:r>
              <a:rPr lang="en-US" sz="1700" b="1" dirty="0">
                <a:solidFill>
                  <a:schemeClr val="tx2"/>
                </a:solidFill>
              </a:rPr>
              <a:t>Carga rápida</a:t>
            </a:r>
            <a:endParaRPr lang="en-US" sz="1700" dirty="0"/>
          </a:p>
        </p:txBody>
      </p:sp>
      <p:sp>
        <p:nvSpPr>
          <p:cNvPr id="16" name="Text 11"/>
          <p:cNvSpPr txBox="1"/>
          <p:nvPr/>
        </p:nvSpPr>
        <p:spPr>
          <a:xfrm>
            <a:off x="8595360" y="2999232"/>
            <a:ext cx="3108960" cy="685800"/>
          </a:xfrm>
          <a:prstGeom prst="rect">
            <a:avLst/>
          </a:prstGeom>
          <a:noFill/>
          <a:ln/>
        </p:spPr>
        <p:txBody>
          <a:bodyPr wrap="square" lIns="0" tIns="0" rIns="0" bIns="0" rtlCol="0" anchor="t"/>
          <a:lstStyle/>
          <a:p>
            <a:pPr indent="0" marL="0">
              <a:buNone/>
            </a:pPr>
            <a:r>
              <a:rPr lang="en-US" sz="1400" dirty="0">
                <a:solidFill>
                  <a:schemeClr val="tx1"/>
                </a:solidFill>
              </a:rPr>
              <a:t>Uno por uno o pegando una lista CSV.</a:t>
            </a:r>
            <a:endParaRPr lang="en-US" sz="1400" dirty="0"/>
          </a:p>
        </p:txBody>
      </p:sp>
      <p:sp>
        <p:nvSpPr>
          <p:cNvPr id="17" name="icono-fondo"/>
          <p:cNvSpPr/>
          <p:nvPr/>
        </p:nvSpPr>
        <p:spPr>
          <a:xfrm>
            <a:off x="7863840" y="3785616"/>
            <a:ext cx="548640" cy="548640"/>
          </a:xfrm>
          <a:prstGeom prst="ellipse">
            <a:avLst/>
          </a:prstGeom>
          <a:solidFill>
            <a:srgbClr val="4F46E5"/>
          </a:solidFill>
          <a:ln w="12700">
            <a:solidFill>
              <a:srgbClr val="4F46E5"/>
            </a:solidFill>
            <a:prstDash val="solid"/>
          </a:ln>
        </p:spPr>
      </p:sp>
      <p:pic>
        <p:nvPicPr>
          <p:cNvPr id="18" name="icono" descr="preencoded.png">    </p:cNvPr>
          <p:cNvPicPr>
            <a:picLocks noChangeAspect="1"/>
          </p:cNvPicPr>
          <p:nvPr/>
        </p:nvPicPr>
        <p:blipFill>
          <a:blip r:embed="rId4"/>
          <a:stretch>
            <a:fillRect/>
          </a:stretch>
        </p:blipFill>
        <p:spPr>
          <a:xfrm>
            <a:off x="8001000" y="3922776"/>
            <a:ext cx="274320" cy="274320"/>
          </a:xfrm>
          <a:prstGeom prst="rect">
            <a:avLst/>
          </a:prstGeom>
        </p:spPr>
      </p:pic>
      <p:sp>
        <p:nvSpPr>
          <p:cNvPr id="19" name="Text 13"/>
          <p:cNvSpPr txBox="1"/>
          <p:nvPr/>
        </p:nvSpPr>
        <p:spPr>
          <a:xfrm>
            <a:off x="8595360" y="3767328"/>
            <a:ext cx="3108960" cy="365760"/>
          </a:xfrm>
          <a:prstGeom prst="rect">
            <a:avLst/>
          </a:prstGeom>
          <a:noFill/>
          <a:ln/>
        </p:spPr>
        <p:txBody>
          <a:bodyPr wrap="square" lIns="0" tIns="0" rIns="0" bIns="0" rtlCol="0" anchor="t"/>
          <a:lstStyle/>
          <a:p>
            <a:pPr indent="0" marL="0">
              <a:buNone/>
            </a:pPr>
            <a:r>
              <a:rPr lang="en-US" sz="1700" b="1" dirty="0">
                <a:solidFill>
                  <a:schemeClr val="tx2"/>
                </a:solidFill>
              </a:rPr>
              <a:t>Un QR por invitado</a:t>
            </a:r>
            <a:endParaRPr lang="en-US" sz="1700" dirty="0"/>
          </a:p>
        </p:txBody>
      </p:sp>
      <p:sp>
        <p:nvSpPr>
          <p:cNvPr id="20" name="Text 14"/>
          <p:cNvSpPr txBox="1"/>
          <p:nvPr/>
        </p:nvSpPr>
        <p:spPr>
          <a:xfrm>
            <a:off x="8595360" y="4114800"/>
            <a:ext cx="3108960" cy="685800"/>
          </a:xfrm>
          <a:prstGeom prst="rect">
            <a:avLst/>
          </a:prstGeom>
          <a:noFill/>
          <a:ln/>
        </p:spPr>
        <p:txBody>
          <a:bodyPr wrap="square" lIns="0" tIns="0" rIns="0" bIns="0" rtlCol="0" anchor="t"/>
          <a:lstStyle/>
          <a:p>
            <a:pPr indent="0" marL="0">
              <a:buNone/>
            </a:pPr>
            <a:r>
              <a:rPr lang="en-US" sz="1400" dirty="0">
                <a:solidFill>
                  <a:schemeClr val="tx1"/>
                </a:solidFill>
              </a:rPr>
              <a:t>Se ve, se descarga o se imprime desde la lista.</a:t>
            </a:r>
            <a:endParaRPr lang="en-US" sz="1400" dirty="0"/>
          </a:p>
        </p:txBody>
      </p:sp>
      <p:sp>
        <p:nvSpPr>
          <p:cNvPr id="21" name="icono-fondo"/>
          <p:cNvSpPr/>
          <p:nvPr/>
        </p:nvSpPr>
        <p:spPr>
          <a:xfrm>
            <a:off x="7863840" y="4901184"/>
            <a:ext cx="548640" cy="548640"/>
          </a:xfrm>
          <a:prstGeom prst="ellipse">
            <a:avLst/>
          </a:prstGeom>
          <a:solidFill>
            <a:srgbClr val="4F46E5"/>
          </a:solidFill>
          <a:ln w="12700">
            <a:solidFill>
              <a:srgbClr val="4F46E5"/>
            </a:solidFill>
            <a:prstDash val="solid"/>
          </a:ln>
        </p:spPr>
      </p:sp>
      <p:pic>
        <p:nvPicPr>
          <p:cNvPr id="22" name="icono" descr="preencoded.png">    </p:cNvPr>
          <p:cNvPicPr>
            <a:picLocks noChangeAspect="1"/>
          </p:cNvPicPr>
          <p:nvPr/>
        </p:nvPicPr>
        <p:blipFill>
          <a:blip r:embed="rId5"/>
          <a:stretch>
            <a:fillRect/>
          </a:stretch>
        </p:blipFill>
        <p:spPr>
          <a:xfrm>
            <a:off x="8001000" y="5038344"/>
            <a:ext cx="274320" cy="274320"/>
          </a:xfrm>
          <a:prstGeom prst="rect">
            <a:avLst/>
          </a:prstGeom>
        </p:spPr>
      </p:pic>
      <p:sp>
        <p:nvSpPr>
          <p:cNvPr id="23" name="Text 16"/>
          <p:cNvSpPr txBox="1"/>
          <p:nvPr/>
        </p:nvSpPr>
        <p:spPr>
          <a:xfrm>
            <a:off x="8595360" y="4882896"/>
            <a:ext cx="3108960" cy="365760"/>
          </a:xfrm>
          <a:prstGeom prst="rect">
            <a:avLst/>
          </a:prstGeom>
          <a:noFill/>
          <a:ln/>
        </p:spPr>
        <p:txBody>
          <a:bodyPr wrap="square" lIns="0" tIns="0" rIns="0" bIns="0" rtlCol="0" anchor="t"/>
          <a:lstStyle/>
          <a:p>
            <a:pPr indent="0" marL="0">
              <a:buNone/>
            </a:pPr>
            <a:r>
              <a:rPr lang="en-US" sz="1700" b="1" dirty="0">
                <a:solidFill>
                  <a:schemeClr val="tx2"/>
                </a:solidFill>
              </a:rPr>
              <a:t>Todo a la vista</a:t>
            </a:r>
            <a:endParaRPr lang="en-US" sz="1700" dirty="0"/>
          </a:p>
        </p:txBody>
      </p:sp>
      <p:sp>
        <p:nvSpPr>
          <p:cNvPr id="24" name="Text 17"/>
          <p:cNvSpPr txBox="1"/>
          <p:nvPr/>
        </p:nvSpPr>
        <p:spPr>
          <a:xfrm>
            <a:off x="8595360" y="5230368"/>
            <a:ext cx="3108960" cy="685800"/>
          </a:xfrm>
          <a:prstGeom prst="rect">
            <a:avLst/>
          </a:prstGeom>
          <a:noFill/>
          <a:ln/>
        </p:spPr>
        <p:txBody>
          <a:bodyPr wrap="square" lIns="0" tIns="0" rIns="0" bIns="0" rtlCol="0" anchor="t"/>
          <a:lstStyle/>
          <a:p>
            <a:pPr indent="0" marL="0">
              <a:buNone/>
            </a:pPr>
            <a:r>
              <a:rPr lang="en-US" sz="1400" dirty="0">
                <a:solidFill>
                  <a:schemeClr val="tx1"/>
                </a:solidFill>
              </a:rPr>
              <a:t>Si recibió la invitación, qué respondió y si ingresó.</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320040"/>
          </a:xfrm>
          <a:prstGeom prst="rect">
            <a:avLst/>
          </a:prstGeom>
          <a:noFill/>
          <a:ln/>
        </p:spPr>
        <p:txBody>
          <a:bodyPr wrap="square" lIns="0" tIns="0" rIns="0" bIns="0" rtlCol="0"/>
          <a:lstStyle/>
          <a:p>
            <a:pPr indent="0" marL="0">
              <a:buNone/>
            </a:pPr>
            <a:r>
              <a:rPr lang="en-US" sz="1200" b="1" spc="200" kern="0" dirty="0">
                <a:solidFill>
                  <a:schemeClr val="accent1"/>
                </a:solidFill>
              </a:rPr>
              <a:t>02 · FUNCIONALIDADES</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400" b="1" dirty="0">
                <a:solidFill>
                  <a:schemeClr val="tx2"/>
                </a:solidFill>
              </a:rPr>
              <a:t>El invitado confirma desde su celular</a:t>
            </a:r>
            <a:endParaRPr lang="en-US" sz="3400" dirty="0"/>
          </a:p>
        </p:txBody>
      </p:sp>
      <p:sp>
        <p:nvSpPr>
          <p:cNvPr id="4" name="marco-mail"/>
          <p:cNvSpPr/>
          <p:nvPr/>
        </p:nvSpPr>
        <p:spPr>
          <a:xfrm>
            <a:off x="548640" y="1463040"/>
            <a:ext cx="3640975" cy="4937760"/>
          </a:xfrm>
          <a:prstGeom prst="roundRect">
            <a:avLst>
              <a:gd name="adj" fmla="val 2511"/>
            </a:avLst>
          </a:prstGeom>
          <a:solidFill>
            <a:srgbClr val="F1F5F9"/>
          </a:solidFill>
          <a:ln w="12700">
            <a:solidFill>
              <a:srgbClr val="E5E7EB"/>
            </a:solidFill>
            <a:prstDash val="solid"/>
          </a:ln>
          <a:effectLst>
            <a:outerShdw sx="100000" sy="100000" kx="0" ky="0" algn="bl" rotWithShape="0" blurRad="101600" dist="38100" dir="5400000">
              <a:srgbClr val="000000">
                <a:alpha val="18000"/>
              </a:srgbClr>
            </a:outerShdw>
          </a:effectLst>
        </p:spPr>
      </p:sp>
      <p:pic>
        <p:nvPicPr>
          <p:cNvPr id="5" name="mail" descr="/tmp/claude-0/ppt/img/mail.jpg">    </p:cNvPr>
          <p:cNvPicPr>
            <a:picLocks noChangeAspect="1"/>
          </p:cNvPicPr>
          <p:nvPr/>
        </p:nvPicPr>
        <p:blipFill>
          <a:blip r:embed="rId1"/>
          <a:stretch>
            <a:fillRect/>
          </a:stretch>
        </p:blipFill>
        <p:spPr>
          <a:xfrm>
            <a:off x="640080" y="1554480"/>
            <a:ext cx="3458095" cy="4754880"/>
          </a:xfrm>
          <a:prstGeom prst="rect">
            <a:avLst/>
          </a:prstGeom>
        </p:spPr>
      </p:pic>
      <p:sp>
        <p:nvSpPr>
          <p:cNvPr id="6" name="celular"/>
          <p:cNvSpPr/>
          <p:nvPr/>
        </p:nvSpPr>
        <p:spPr>
          <a:xfrm>
            <a:off x="4389120" y="1463040"/>
            <a:ext cx="2799702" cy="4937760"/>
          </a:xfrm>
          <a:prstGeom prst="roundRect">
            <a:avLst>
              <a:gd name="adj" fmla="val 7185"/>
            </a:avLst>
          </a:prstGeom>
          <a:solidFill>
            <a:srgbClr val="111827"/>
          </a:solidFill>
          <a:ln w="12700">
            <a:solidFill>
              <a:srgbClr val="111827"/>
            </a:solidFill>
            <a:prstDash val="solid"/>
          </a:ln>
          <a:effectLst>
            <a:outerShdw sx="100000" sy="100000" kx="0" ky="0" algn="bl" rotWithShape="0" blurRad="101600" dist="38100" dir="5400000">
              <a:srgbClr val="000000">
                <a:alpha val="18000"/>
              </a:srgbClr>
            </a:outerShdw>
          </a:effectLst>
        </p:spPr>
      </p:sp>
      <p:pic>
        <p:nvPicPr>
          <p:cNvPr id="7" name="captura-celular" descr="/tmp/claude-0/ppt/img/ph_invitacion.jpg">    </p:cNvPr>
          <p:cNvPicPr>
            <a:picLocks noChangeAspect="1"/>
          </p:cNvPicPr>
          <p:nvPr/>
        </p:nvPicPr>
        <p:blipFill>
          <a:blip r:embed="rId2"/>
          <a:stretch>
            <a:fillRect/>
          </a:stretch>
        </p:blipFill>
        <p:spPr>
          <a:xfrm>
            <a:off x="4471416" y="1545336"/>
            <a:ext cx="2635110" cy="4773168"/>
          </a:xfrm>
          <a:prstGeom prst="rect">
            <a:avLst/>
          </a:prstGeom>
        </p:spPr>
      </p:pic>
      <p:sp>
        <p:nvSpPr>
          <p:cNvPr id="8" name="Shape 4"/>
          <p:cNvSpPr/>
          <p:nvPr/>
        </p:nvSpPr>
        <p:spPr>
          <a:xfrm>
            <a:off x="7452360" y="1554480"/>
            <a:ext cx="502920" cy="502920"/>
          </a:xfrm>
          <a:prstGeom prst="ellipse">
            <a:avLst/>
          </a:prstGeom>
          <a:solidFill>
            <a:srgbClr val="4F46E5"/>
          </a:solidFill>
          <a:ln w="12700">
            <a:solidFill>
              <a:srgbClr val="4F46E5"/>
            </a:solidFill>
            <a:prstDash val="solid"/>
          </a:ln>
        </p:spPr>
      </p:sp>
      <p:sp>
        <p:nvSpPr>
          <p:cNvPr id="9" name="Text 5"/>
          <p:cNvSpPr txBox="1"/>
          <p:nvPr/>
        </p:nvSpPr>
        <p:spPr>
          <a:xfrm>
            <a:off x="7452360" y="15544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0" name="Text 6"/>
          <p:cNvSpPr txBox="1"/>
          <p:nvPr/>
        </p:nvSpPr>
        <p:spPr>
          <a:xfrm>
            <a:off x="8138160" y="1536192"/>
            <a:ext cx="3566160" cy="365760"/>
          </a:xfrm>
          <a:prstGeom prst="rect">
            <a:avLst/>
          </a:prstGeom>
          <a:noFill/>
          <a:ln/>
        </p:spPr>
        <p:txBody>
          <a:bodyPr wrap="square" lIns="0" tIns="0" rIns="0" bIns="0" rtlCol="0" anchor="t"/>
          <a:lstStyle/>
          <a:p>
            <a:pPr indent="0" marL="0">
              <a:buNone/>
            </a:pPr>
            <a:r>
              <a:rPr lang="en-US" sz="1700" b="1" dirty="0">
                <a:solidFill>
                  <a:schemeClr val="tx2"/>
                </a:solidFill>
              </a:rPr>
              <a:t>El organizador envía</a:t>
            </a:r>
            <a:endParaRPr lang="en-US" sz="1700" dirty="0"/>
          </a:p>
        </p:txBody>
      </p:sp>
      <p:sp>
        <p:nvSpPr>
          <p:cNvPr id="11" name="Text 7"/>
          <p:cNvSpPr txBox="1"/>
          <p:nvPr/>
        </p:nvSpPr>
        <p:spPr>
          <a:xfrm>
            <a:off x="8138160" y="1883664"/>
            <a:ext cx="3566160" cy="731520"/>
          </a:xfrm>
          <a:prstGeom prst="rect">
            <a:avLst/>
          </a:prstGeom>
          <a:noFill/>
          <a:ln/>
        </p:spPr>
        <p:txBody>
          <a:bodyPr wrap="square" lIns="0" tIns="0" rIns="0" bIns="0" rtlCol="0" anchor="t"/>
          <a:lstStyle/>
          <a:p>
            <a:pPr indent="0" marL="0">
              <a:buNone/>
            </a:pPr>
            <a:r>
              <a:rPr lang="en-US" sz="1400" dirty="0">
                <a:solidFill>
                  <a:schemeClr val="tx1"/>
                </a:solidFill>
              </a:rPr>
              <a:t>Con el evento activo, un botón manda el mail a quienes todavía no lo recibieron.</a:t>
            </a:r>
            <a:endParaRPr lang="en-US" sz="1400" dirty="0"/>
          </a:p>
        </p:txBody>
      </p:sp>
      <p:sp>
        <p:nvSpPr>
          <p:cNvPr id="12" name="Shape 8"/>
          <p:cNvSpPr/>
          <p:nvPr/>
        </p:nvSpPr>
        <p:spPr>
          <a:xfrm>
            <a:off x="7452360" y="2697480"/>
            <a:ext cx="502920" cy="502920"/>
          </a:xfrm>
          <a:prstGeom prst="ellipse">
            <a:avLst/>
          </a:prstGeom>
          <a:solidFill>
            <a:srgbClr val="4F46E5"/>
          </a:solidFill>
          <a:ln w="12700">
            <a:solidFill>
              <a:srgbClr val="4F46E5"/>
            </a:solidFill>
            <a:prstDash val="solid"/>
          </a:ln>
        </p:spPr>
      </p:sp>
      <p:sp>
        <p:nvSpPr>
          <p:cNvPr id="13" name="Text 9"/>
          <p:cNvSpPr txBox="1"/>
          <p:nvPr/>
        </p:nvSpPr>
        <p:spPr>
          <a:xfrm>
            <a:off x="7452360" y="26974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4" name="Text 10"/>
          <p:cNvSpPr txBox="1"/>
          <p:nvPr/>
        </p:nvSpPr>
        <p:spPr>
          <a:xfrm>
            <a:off x="8138160" y="2679192"/>
            <a:ext cx="3566160" cy="365760"/>
          </a:xfrm>
          <a:prstGeom prst="rect">
            <a:avLst/>
          </a:prstGeom>
          <a:noFill/>
          <a:ln/>
        </p:spPr>
        <p:txBody>
          <a:bodyPr wrap="square" lIns="0" tIns="0" rIns="0" bIns="0" rtlCol="0" anchor="t"/>
          <a:lstStyle/>
          <a:p>
            <a:pPr indent="0" marL="0">
              <a:buNone/>
            </a:pPr>
            <a:r>
              <a:rPr lang="en-US" sz="1700" b="1" dirty="0">
                <a:solidFill>
                  <a:schemeClr val="tx2"/>
                </a:solidFill>
              </a:rPr>
              <a:t>Llega el mail con el QR</a:t>
            </a:r>
            <a:endParaRPr lang="en-US" sz="1700" dirty="0"/>
          </a:p>
        </p:txBody>
      </p:sp>
      <p:sp>
        <p:nvSpPr>
          <p:cNvPr id="15" name="Text 11"/>
          <p:cNvSpPr txBox="1"/>
          <p:nvPr/>
        </p:nvSpPr>
        <p:spPr>
          <a:xfrm>
            <a:off x="8138160" y="3026664"/>
            <a:ext cx="3566160" cy="731520"/>
          </a:xfrm>
          <a:prstGeom prst="rect">
            <a:avLst/>
          </a:prstGeom>
          <a:noFill/>
          <a:ln/>
        </p:spPr>
        <p:txBody>
          <a:bodyPr wrap="square" lIns="0" tIns="0" rIns="0" bIns="0" rtlCol="0" anchor="t"/>
          <a:lstStyle/>
          <a:p>
            <a:pPr indent="0" marL="0">
              <a:buNone/>
            </a:pPr>
            <a:r>
              <a:rPr lang="en-US" sz="1400" dirty="0">
                <a:solidFill>
                  <a:schemeClr val="tx1"/>
                </a:solidFill>
              </a:rPr>
              <a:t>Datos del evento, el código como imagen y dos botones.</a:t>
            </a:r>
            <a:endParaRPr lang="en-US" sz="1400" dirty="0"/>
          </a:p>
        </p:txBody>
      </p:sp>
      <p:sp>
        <p:nvSpPr>
          <p:cNvPr id="16" name="Shape 12"/>
          <p:cNvSpPr/>
          <p:nvPr/>
        </p:nvSpPr>
        <p:spPr>
          <a:xfrm>
            <a:off x="7452360" y="3840480"/>
            <a:ext cx="502920" cy="502920"/>
          </a:xfrm>
          <a:prstGeom prst="ellipse">
            <a:avLst/>
          </a:prstGeom>
          <a:solidFill>
            <a:srgbClr val="4F46E5"/>
          </a:solidFill>
          <a:ln w="12700">
            <a:solidFill>
              <a:srgbClr val="4F46E5"/>
            </a:solidFill>
            <a:prstDash val="solid"/>
          </a:ln>
        </p:spPr>
      </p:sp>
      <p:sp>
        <p:nvSpPr>
          <p:cNvPr id="17" name="Text 13"/>
          <p:cNvSpPr txBox="1"/>
          <p:nvPr/>
        </p:nvSpPr>
        <p:spPr>
          <a:xfrm>
            <a:off x="7452360" y="38404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8" name="Text 14"/>
          <p:cNvSpPr txBox="1"/>
          <p:nvPr/>
        </p:nvSpPr>
        <p:spPr>
          <a:xfrm>
            <a:off x="8138160" y="3822192"/>
            <a:ext cx="3566160" cy="365760"/>
          </a:xfrm>
          <a:prstGeom prst="rect">
            <a:avLst/>
          </a:prstGeom>
          <a:noFill/>
          <a:ln/>
        </p:spPr>
        <p:txBody>
          <a:bodyPr wrap="square" lIns="0" tIns="0" rIns="0" bIns="0" rtlCol="0" anchor="t"/>
          <a:lstStyle/>
          <a:p>
            <a:pPr indent="0" marL="0">
              <a:buNone/>
            </a:pPr>
            <a:r>
              <a:rPr lang="en-US" sz="1700" b="1" dirty="0">
                <a:solidFill>
                  <a:schemeClr val="tx2"/>
                </a:solidFill>
              </a:rPr>
              <a:t>Responde sin cuenta</a:t>
            </a:r>
            <a:endParaRPr lang="en-US" sz="1700" dirty="0"/>
          </a:p>
        </p:txBody>
      </p:sp>
      <p:sp>
        <p:nvSpPr>
          <p:cNvPr id="19" name="Text 15"/>
          <p:cNvSpPr txBox="1"/>
          <p:nvPr/>
        </p:nvSpPr>
        <p:spPr>
          <a:xfrm>
            <a:off x="8138160" y="4169664"/>
            <a:ext cx="3566160" cy="731520"/>
          </a:xfrm>
          <a:prstGeom prst="rect">
            <a:avLst/>
          </a:prstGeom>
          <a:noFill/>
          <a:ln/>
        </p:spPr>
        <p:txBody>
          <a:bodyPr wrap="square" lIns="0" tIns="0" rIns="0" bIns="0" rtlCol="0" anchor="t"/>
          <a:lstStyle/>
          <a:p>
            <a:pPr indent="0" marL="0">
              <a:buNone/>
            </a:pPr>
            <a:r>
              <a:rPr lang="en-US" sz="1400" dirty="0">
                <a:solidFill>
                  <a:schemeClr val="tx1"/>
                </a:solidFill>
              </a:rPr>
              <a:t>Confirma o rechaza en una página pública; al confirmar ve su QR.</a:t>
            </a:r>
            <a:endParaRPr lang="en-US" sz="1400" dirty="0"/>
          </a:p>
        </p:txBody>
      </p:sp>
      <p:sp>
        <p:nvSpPr>
          <p:cNvPr id="20" name="Shape 16"/>
          <p:cNvSpPr/>
          <p:nvPr/>
        </p:nvSpPr>
        <p:spPr>
          <a:xfrm>
            <a:off x="7452360" y="4983480"/>
            <a:ext cx="502920" cy="502920"/>
          </a:xfrm>
          <a:prstGeom prst="ellipse">
            <a:avLst/>
          </a:prstGeom>
          <a:solidFill>
            <a:srgbClr val="4F46E5"/>
          </a:solidFill>
          <a:ln w="12700">
            <a:solidFill>
              <a:srgbClr val="4F46E5"/>
            </a:solidFill>
            <a:prstDash val="solid"/>
          </a:ln>
        </p:spPr>
      </p:sp>
      <p:sp>
        <p:nvSpPr>
          <p:cNvPr id="21" name="Text 17"/>
          <p:cNvSpPr txBox="1"/>
          <p:nvPr/>
        </p:nvSpPr>
        <p:spPr>
          <a:xfrm>
            <a:off x="7452360" y="49834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2" name="Text 18"/>
          <p:cNvSpPr txBox="1"/>
          <p:nvPr/>
        </p:nvSpPr>
        <p:spPr>
          <a:xfrm>
            <a:off x="8138160" y="4965192"/>
            <a:ext cx="3566160" cy="365760"/>
          </a:xfrm>
          <a:prstGeom prst="rect">
            <a:avLst/>
          </a:prstGeom>
          <a:noFill/>
          <a:ln/>
        </p:spPr>
        <p:txBody>
          <a:bodyPr wrap="square" lIns="0" tIns="0" rIns="0" bIns="0" rtlCol="0" anchor="t"/>
          <a:lstStyle/>
          <a:p>
            <a:pPr indent="0" marL="0">
              <a:buNone/>
            </a:pPr>
            <a:r>
              <a:rPr lang="en-US" sz="1700" b="1" dirty="0">
                <a:solidFill>
                  <a:schemeClr val="tx2"/>
                </a:solidFill>
              </a:rPr>
              <a:t>El organizador lo ve</a:t>
            </a:r>
            <a:endParaRPr lang="en-US" sz="1700" dirty="0"/>
          </a:p>
        </p:txBody>
      </p:sp>
      <p:sp>
        <p:nvSpPr>
          <p:cNvPr id="23" name="Text 19"/>
          <p:cNvSpPr txBox="1"/>
          <p:nvPr/>
        </p:nvSpPr>
        <p:spPr>
          <a:xfrm>
            <a:off x="8138160" y="5312664"/>
            <a:ext cx="3566160" cy="731520"/>
          </a:xfrm>
          <a:prstGeom prst="rect">
            <a:avLst/>
          </a:prstGeom>
          <a:noFill/>
          <a:ln/>
        </p:spPr>
        <p:txBody>
          <a:bodyPr wrap="square" lIns="0" tIns="0" rIns="0" bIns="0" rtlCol="0" anchor="t"/>
          <a:lstStyle/>
          <a:p>
            <a:pPr indent="0" marL="0">
              <a:buNone/>
            </a:pPr>
            <a:r>
              <a:rPr lang="en-US" sz="1400" dirty="0">
                <a:solidFill>
                  <a:schemeClr val="tx1"/>
                </a:solidFill>
              </a:rPr>
              <a:t>La lista muestra la respuesta «por el invitado».</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320040"/>
          </a:xfrm>
          <a:prstGeom prst="rect">
            <a:avLst/>
          </a:prstGeom>
          <a:noFill/>
          <a:ln/>
        </p:spPr>
        <p:txBody>
          <a:bodyPr wrap="square" lIns="0" tIns="0" rIns="0" bIns="0" rtlCol="0"/>
          <a:lstStyle/>
          <a:p>
            <a:pPr indent="0" marL="0">
              <a:buNone/>
            </a:pPr>
            <a:r>
              <a:rPr lang="en-US" sz="1200" b="1" spc="200" kern="0" dirty="0">
                <a:solidFill>
                  <a:schemeClr val="accent1"/>
                </a:solidFill>
              </a:rPr>
              <a:t>02 · FUNCIONALIDADES</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400" b="1" dirty="0">
                <a:solidFill>
                  <a:schemeClr val="tx2"/>
                </a:solidFill>
              </a:rPr>
              <a:t>Check-in en la puerta, con la cámara</a:t>
            </a:r>
            <a:endParaRPr lang="en-US" sz="3400" dirty="0"/>
          </a:p>
        </p:txBody>
      </p:sp>
      <p:sp>
        <p:nvSpPr>
          <p:cNvPr id="4" name="celular"/>
          <p:cNvSpPr/>
          <p:nvPr/>
        </p:nvSpPr>
        <p:spPr>
          <a:xfrm>
            <a:off x="822960" y="1417320"/>
            <a:ext cx="2774462" cy="4892040"/>
          </a:xfrm>
          <a:prstGeom prst="roundRect">
            <a:avLst>
              <a:gd name="adj" fmla="val 7251"/>
            </a:avLst>
          </a:prstGeom>
          <a:solidFill>
            <a:srgbClr val="111827"/>
          </a:solidFill>
          <a:ln w="12700">
            <a:solidFill>
              <a:srgbClr val="111827"/>
            </a:solidFill>
            <a:prstDash val="solid"/>
          </a:ln>
          <a:effectLst>
            <a:outerShdw sx="100000" sy="100000" kx="0" ky="0" algn="bl" rotWithShape="0" blurRad="101600" dist="38100" dir="5400000">
              <a:srgbClr val="000000">
                <a:alpha val="18000"/>
              </a:srgbClr>
            </a:outerShdw>
          </a:effectLst>
        </p:spPr>
      </p:sp>
      <p:pic>
        <p:nvPicPr>
          <p:cNvPr id="5" name="captura-celular" descr="/tmp/claude-0/ppt/img/ph_escaner.jpg">    </p:cNvPr>
          <p:cNvPicPr>
            <a:picLocks noChangeAspect="1"/>
          </p:cNvPicPr>
          <p:nvPr/>
        </p:nvPicPr>
        <p:blipFill>
          <a:blip r:embed="rId1"/>
          <a:stretch>
            <a:fillRect/>
          </a:stretch>
        </p:blipFill>
        <p:spPr>
          <a:xfrm>
            <a:off x="905256" y="1499616"/>
            <a:ext cx="2609870" cy="4727448"/>
          </a:xfrm>
          <a:prstGeom prst="rect">
            <a:avLst/>
          </a:prstGeom>
        </p:spPr>
      </p:pic>
      <p:sp>
        <p:nvSpPr>
          <p:cNvPr id="6" name="Text 3"/>
          <p:cNvSpPr txBox="1"/>
          <p:nvPr/>
        </p:nvSpPr>
        <p:spPr>
          <a:xfrm>
            <a:off x="4206240" y="1508760"/>
            <a:ext cx="7406640" cy="411480"/>
          </a:xfrm>
          <a:prstGeom prst="rect">
            <a:avLst/>
          </a:prstGeom>
          <a:noFill/>
          <a:ln/>
        </p:spPr>
        <p:txBody>
          <a:bodyPr wrap="square" lIns="0" tIns="0" rIns="0" bIns="0" rtlCol="0" anchor="t"/>
          <a:lstStyle/>
          <a:p>
            <a:pPr indent="0" marL="0">
              <a:buNone/>
            </a:pPr>
            <a:r>
              <a:rPr lang="en-US" sz="2000" b="1" dirty="0">
                <a:solidFill>
                  <a:schemeClr val="tx2"/>
                </a:solidFill>
              </a:rPr>
              <a:t>Cuatro formas de registrar el ingreso</a:t>
            </a:r>
            <a:endParaRPr lang="en-US" sz="2000" dirty="0"/>
          </a:p>
        </p:txBody>
      </p:sp>
      <p:sp>
        <p:nvSpPr>
          <p:cNvPr id="7" name="icono-fondo"/>
          <p:cNvSpPr/>
          <p:nvPr/>
        </p:nvSpPr>
        <p:spPr>
          <a:xfrm>
            <a:off x="4206240" y="2057400"/>
            <a:ext cx="640080" cy="640080"/>
          </a:xfrm>
          <a:prstGeom prst="ellipse">
            <a:avLst/>
          </a:prstGeom>
          <a:solidFill>
            <a:srgbClr val="4F46E5"/>
          </a:solidFill>
          <a:ln w="12700">
            <a:solidFill>
              <a:srgbClr val="4F46E5"/>
            </a:solidFill>
            <a:prstDash val="solid"/>
          </a:ln>
        </p:spPr>
      </p:sp>
      <p:pic>
        <p:nvPicPr>
          <p:cNvPr id="8" name="icono" descr="preencoded.png">    </p:cNvPr>
          <p:cNvPicPr>
            <a:picLocks noChangeAspect="1"/>
          </p:cNvPicPr>
          <p:nvPr/>
        </p:nvPicPr>
        <p:blipFill>
          <a:blip r:embed="rId2"/>
          <a:stretch>
            <a:fillRect/>
          </a:stretch>
        </p:blipFill>
        <p:spPr>
          <a:xfrm>
            <a:off x="4366260" y="2217420"/>
            <a:ext cx="320040" cy="320040"/>
          </a:xfrm>
          <a:prstGeom prst="rect">
            <a:avLst/>
          </a:prstGeom>
        </p:spPr>
      </p:pic>
      <p:sp>
        <p:nvSpPr>
          <p:cNvPr id="9" name="Text 5"/>
          <p:cNvSpPr txBox="1"/>
          <p:nvPr/>
        </p:nvSpPr>
        <p:spPr>
          <a:xfrm>
            <a:off x="4956048" y="2194560"/>
            <a:ext cx="1051560" cy="365760"/>
          </a:xfrm>
          <a:prstGeom prst="rect">
            <a:avLst/>
          </a:prstGeom>
          <a:noFill/>
          <a:ln/>
        </p:spPr>
        <p:txBody>
          <a:bodyPr wrap="square" lIns="0" tIns="0" rIns="0" bIns="0" rtlCol="0" anchor="t"/>
          <a:lstStyle/>
          <a:p>
            <a:pPr indent="0" marL="0">
              <a:buNone/>
            </a:pPr>
            <a:r>
              <a:rPr lang="en-US" sz="1600" b="1" dirty="0">
                <a:solidFill>
                  <a:schemeClr val="tx2"/>
                </a:solidFill>
              </a:rPr>
              <a:t>Cámara</a:t>
            </a:r>
            <a:endParaRPr lang="en-US" sz="1600" dirty="0"/>
          </a:p>
        </p:txBody>
      </p:sp>
      <p:sp>
        <p:nvSpPr>
          <p:cNvPr id="10" name="icono-fondo"/>
          <p:cNvSpPr/>
          <p:nvPr/>
        </p:nvSpPr>
        <p:spPr>
          <a:xfrm>
            <a:off x="6080760" y="2057400"/>
            <a:ext cx="640080" cy="640080"/>
          </a:xfrm>
          <a:prstGeom prst="ellipse">
            <a:avLst/>
          </a:prstGeom>
          <a:solidFill>
            <a:srgbClr val="4F46E5"/>
          </a:solidFill>
          <a:ln w="12700">
            <a:solidFill>
              <a:srgbClr val="4F46E5"/>
            </a:solidFill>
            <a:prstDash val="solid"/>
          </a:ln>
        </p:spPr>
      </p:sp>
      <p:pic>
        <p:nvPicPr>
          <p:cNvPr id="11" name="icono" descr="preencoded.png">    </p:cNvPr>
          <p:cNvPicPr>
            <a:picLocks noChangeAspect="1"/>
          </p:cNvPicPr>
          <p:nvPr/>
        </p:nvPicPr>
        <p:blipFill>
          <a:blip r:embed="rId3"/>
          <a:stretch>
            <a:fillRect/>
          </a:stretch>
        </p:blipFill>
        <p:spPr>
          <a:xfrm>
            <a:off x="6240780" y="2217420"/>
            <a:ext cx="320040" cy="320040"/>
          </a:xfrm>
          <a:prstGeom prst="rect">
            <a:avLst/>
          </a:prstGeom>
        </p:spPr>
      </p:pic>
      <p:sp>
        <p:nvSpPr>
          <p:cNvPr id="12" name="Text 7"/>
          <p:cNvSpPr txBox="1"/>
          <p:nvPr/>
        </p:nvSpPr>
        <p:spPr>
          <a:xfrm>
            <a:off x="6830568" y="2194560"/>
            <a:ext cx="1051560" cy="365760"/>
          </a:xfrm>
          <a:prstGeom prst="rect">
            <a:avLst/>
          </a:prstGeom>
          <a:noFill/>
          <a:ln/>
        </p:spPr>
        <p:txBody>
          <a:bodyPr wrap="square" lIns="0" tIns="0" rIns="0" bIns="0" rtlCol="0" anchor="t"/>
          <a:lstStyle/>
          <a:p>
            <a:pPr indent="0" marL="0">
              <a:buNone/>
            </a:pPr>
            <a:r>
              <a:rPr lang="en-US" sz="1600" b="1" dirty="0">
                <a:solidFill>
                  <a:schemeClr val="tx2"/>
                </a:solidFill>
              </a:rPr>
              <a:t>Foto</a:t>
            </a:r>
            <a:endParaRPr lang="en-US" sz="1600" dirty="0"/>
          </a:p>
        </p:txBody>
      </p:sp>
      <p:sp>
        <p:nvSpPr>
          <p:cNvPr id="13" name="icono-fondo"/>
          <p:cNvSpPr/>
          <p:nvPr/>
        </p:nvSpPr>
        <p:spPr>
          <a:xfrm>
            <a:off x="7955280" y="2057400"/>
            <a:ext cx="640080" cy="640080"/>
          </a:xfrm>
          <a:prstGeom prst="ellipse">
            <a:avLst/>
          </a:prstGeom>
          <a:solidFill>
            <a:srgbClr val="4F46E5"/>
          </a:solidFill>
          <a:ln w="12700">
            <a:solidFill>
              <a:srgbClr val="4F46E5"/>
            </a:solidFill>
            <a:prstDash val="solid"/>
          </a:ln>
        </p:spPr>
      </p:sp>
      <p:pic>
        <p:nvPicPr>
          <p:cNvPr id="14" name="icono" descr="preencoded.png">    </p:cNvPr>
          <p:cNvPicPr>
            <a:picLocks noChangeAspect="1"/>
          </p:cNvPicPr>
          <p:nvPr/>
        </p:nvPicPr>
        <p:blipFill>
          <a:blip r:embed="rId4"/>
          <a:stretch>
            <a:fillRect/>
          </a:stretch>
        </p:blipFill>
        <p:spPr>
          <a:xfrm>
            <a:off x="8115300" y="2217420"/>
            <a:ext cx="320040" cy="320040"/>
          </a:xfrm>
          <a:prstGeom prst="rect">
            <a:avLst/>
          </a:prstGeom>
        </p:spPr>
      </p:pic>
      <p:sp>
        <p:nvSpPr>
          <p:cNvPr id="15" name="Text 9"/>
          <p:cNvSpPr txBox="1"/>
          <p:nvPr/>
        </p:nvSpPr>
        <p:spPr>
          <a:xfrm>
            <a:off x="8705088" y="2194560"/>
            <a:ext cx="1051560" cy="365760"/>
          </a:xfrm>
          <a:prstGeom prst="rect">
            <a:avLst/>
          </a:prstGeom>
          <a:noFill/>
          <a:ln/>
        </p:spPr>
        <p:txBody>
          <a:bodyPr wrap="square" lIns="0" tIns="0" rIns="0" bIns="0" rtlCol="0" anchor="t"/>
          <a:lstStyle/>
          <a:p>
            <a:pPr indent="0" marL="0">
              <a:buNone/>
            </a:pPr>
            <a:r>
              <a:rPr lang="en-US" sz="1600" b="1" dirty="0">
                <a:solidFill>
                  <a:schemeClr val="tx2"/>
                </a:solidFill>
              </a:rPr>
              <a:t>Código</a:t>
            </a:r>
            <a:endParaRPr lang="en-US" sz="1600" dirty="0"/>
          </a:p>
        </p:txBody>
      </p:sp>
      <p:sp>
        <p:nvSpPr>
          <p:cNvPr id="16" name="icono-fondo"/>
          <p:cNvSpPr/>
          <p:nvPr/>
        </p:nvSpPr>
        <p:spPr>
          <a:xfrm>
            <a:off x="9829800" y="2057400"/>
            <a:ext cx="640080" cy="640080"/>
          </a:xfrm>
          <a:prstGeom prst="ellipse">
            <a:avLst/>
          </a:prstGeom>
          <a:solidFill>
            <a:srgbClr val="4F46E5"/>
          </a:solidFill>
          <a:ln w="12700">
            <a:solidFill>
              <a:srgbClr val="4F46E5"/>
            </a:solidFill>
            <a:prstDash val="solid"/>
          </a:ln>
        </p:spPr>
      </p:sp>
      <p:pic>
        <p:nvPicPr>
          <p:cNvPr id="17" name="icono" descr="preencoded.png">    </p:cNvPr>
          <p:cNvPicPr>
            <a:picLocks noChangeAspect="1"/>
          </p:cNvPicPr>
          <p:nvPr/>
        </p:nvPicPr>
        <p:blipFill>
          <a:blip r:embed="rId5"/>
          <a:stretch>
            <a:fillRect/>
          </a:stretch>
        </p:blipFill>
        <p:spPr>
          <a:xfrm>
            <a:off x="9989820" y="2217420"/>
            <a:ext cx="320040" cy="320040"/>
          </a:xfrm>
          <a:prstGeom prst="rect">
            <a:avLst/>
          </a:prstGeom>
        </p:spPr>
      </p:pic>
      <p:sp>
        <p:nvSpPr>
          <p:cNvPr id="18" name="Text 11"/>
          <p:cNvSpPr txBox="1"/>
          <p:nvPr/>
        </p:nvSpPr>
        <p:spPr>
          <a:xfrm>
            <a:off x="10579608" y="2194560"/>
            <a:ext cx="1051560" cy="365760"/>
          </a:xfrm>
          <a:prstGeom prst="rect">
            <a:avLst/>
          </a:prstGeom>
          <a:noFill/>
          <a:ln/>
        </p:spPr>
        <p:txBody>
          <a:bodyPr wrap="square" lIns="0" tIns="0" rIns="0" bIns="0" rtlCol="0" anchor="t"/>
          <a:lstStyle/>
          <a:p>
            <a:pPr indent="0" marL="0">
              <a:buNone/>
            </a:pPr>
            <a:r>
              <a:rPr lang="en-US" sz="1600" b="1" dirty="0">
                <a:solidFill>
                  <a:schemeClr val="tx2"/>
                </a:solidFill>
              </a:rPr>
              <a:t>Botón</a:t>
            </a:r>
            <a:endParaRPr lang="en-US" sz="1600" dirty="0"/>
          </a:p>
        </p:txBody>
      </p:sp>
      <p:sp>
        <p:nvSpPr>
          <p:cNvPr id="19" name="Text 12"/>
          <p:cNvSpPr txBox="1"/>
          <p:nvPr/>
        </p:nvSpPr>
        <p:spPr>
          <a:xfrm>
            <a:off x="4206240" y="3063240"/>
            <a:ext cx="7406640" cy="411480"/>
          </a:xfrm>
          <a:prstGeom prst="rect">
            <a:avLst/>
          </a:prstGeom>
          <a:noFill/>
          <a:ln/>
        </p:spPr>
        <p:txBody>
          <a:bodyPr wrap="square" lIns="0" tIns="0" rIns="0" bIns="0" rtlCol="0" anchor="t"/>
          <a:lstStyle/>
          <a:p>
            <a:pPr indent="0" marL="0">
              <a:buNone/>
            </a:pPr>
            <a:r>
              <a:rPr lang="en-US" sz="2000" b="1" dirty="0">
                <a:solidFill>
                  <a:schemeClr val="tx2"/>
                </a:solidFill>
              </a:rPr>
              <a:t>Cada intento dice a quién se registró o por qué no</a:t>
            </a:r>
            <a:endParaRPr lang="en-US" sz="2000" dirty="0"/>
          </a:p>
        </p:txBody>
      </p:sp>
      <p:sp>
        <p:nvSpPr>
          <p:cNvPr id="20" name="tarjeta"/>
          <p:cNvSpPr/>
          <p:nvPr/>
        </p:nvSpPr>
        <p:spPr>
          <a:xfrm>
            <a:off x="4206240" y="3611880"/>
            <a:ext cx="3566160" cy="1051560"/>
          </a:xfrm>
          <a:prstGeom prst="roundRect">
            <a:avLst>
              <a:gd name="adj" fmla="val 8696"/>
            </a:avLst>
          </a:prstGeom>
          <a:solidFill>
            <a:srgbClr val="FFFFFF"/>
          </a:solidFill>
          <a:ln w="12700">
            <a:solidFill>
              <a:srgbClr val="E5E7EB"/>
            </a:solidFill>
            <a:prstDash val="solid"/>
          </a:ln>
          <a:effectLst>
            <a:outerShdw sx="100000" sy="100000" kx="0" ky="0" algn="bl" rotWithShape="0" blurRad="101600" dist="38100" dir="5400000">
              <a:srgbClr val="000000">
                <a:alpha val="18000"/>
              </a:srgbClr>
            </a:outerShdw>
          </a:effectLst>
        </p:spPr>
      </p:sp>
      <p:sp>
        <p:nvSpPr>
          <p:cNvPr id="21" name="icono-fondo"/>
          <p:cNvSpPr/>
          <p:nvPr/>
        </p:nvSpPr>
        <p:spPr>
          <a:xfrm>
            <a:off x="4389120" y="3840480"/>
            <a:ext cx="566928" cy="566928"/>
          </a:xfrm>
          <a:prstGeom prst="ellipse">
            <a:avLst/>
          </a:prstGeom>
          <a:solidFill>
            <a:srgbClr val="16A34A"/>
          </a:solidFill>
          <a:ln w="12700">
            <a:solidFill>
              <a:srgbClr val="16A34A"/>
            </a:solidFill>
            <a:prstDash val="solid"/>
          </a:ln>
        </p:spPr>
      </p:sp>
      <p:pic>
        <p:nvPicPr>
          <p:cNvPr id="22" name="icono" descr="preencoded.png">    </p:cNvPr>
          <p:cNvPicPr>
            <a:picLocks noChangeAspect="1"/>
          </p:cNvPicPr>
          <p:nvPr/>
        </p:nvPicPr>
        <p:blipFill>
          <a:blip r:embed="rId6"/>
          <a:stretch>
            <a:fillRect/>
          </a:stretch>
        </p:blipFill>
        <p:spPr>
          <a:xfrm>
            <a:off x="4530852" y="3982212"/>
            <a:ext cx="283464" cy="283464"/>
          </a:xfrm>
          <a:prstGeom prst="rect">
            <a:avLst/>
          </a:prstGeom>
        </p:spPr>
      </p:pic>
      <p:sp>
        <p:nvSpPr>
          <p:cNvPr id="23" name="Text 15"/>
          <p:cNvSpPr txBox="1"/>
          <p:nvPr/>
        </p:nvSpPr>
        <p:spPr>
          <a:xfrm>
            <a:off x="5120640" y="3749040"/>
            <a:ext cx="2514600" cy="347472"/>
          </a:xfrm>
          <a:prstGeom prst="rect">
            <a:avLst/>
          </a:prstGeom>
          <a:noFill/>
          <a:ln/>
        </p:spPr>
        <p:txBody>
          <a:bodyPr wrap="square" lIns="0" tIns="0" rIns="0" bIns="0" rtlCol="0" anchor="t"/>
          <a:lstStyle/>
          <a:p>
            <a:pPr indent="0" marL="0">
              <a:buNone/>
            </a:pPr>
            <a:r>
              <a:rPr lang="en-US" sz="1600" b="1" dirty="0">
                <a:solidFill>
                  <a:schemeClr val="tx2"/>
                </a:solidFill>
              </a:rPr>
              <a:t>Válido</a:t>
            </a:r>
            <a:endParaRPr lang="en-US" sz="1600" dirty="0"/>
          </a:p>
        </p:txBody>
      </p:sp>
      <p:sp>
        <p:nvSpPr>
          <p:cNvPr id="24" name="Text 16"/>
          <p:cNvSpPr txBox="1"/>
          <p:nvPr/>
        </p:nvSpPr>
        <p:spPr>
          <a:xfrm>
            <a:off x="5120640" y="4087368"/>
            <a:ext cx="2514600" cy="548640"/>
          </a:xfrm>
          <a:prstGeom prst="rect">
            <a:avLst/>
          </a:prstGeom>
          <a:noFill/>
          <a:ln/>
        </p:spPr>
        <p:txBody>
          <a:bodyPr wrap="square" lIns="0" tIns="0" rIns="0" bIns="0" rtlCol="0" anchor="t"/>
          <a:lstStyle/>
          <a:p>
            <a:pPr indent="0" marL="0">
              <a:buNone/>
            </a:pPr>
            <a:r>
              <a:rPr lang="en-US" sz="1300" dirty="0">
                <a:solidFill>
                  <a:schemeClr val="tx1"/>
                </a:solidFill>
              </a:rPr>
              <a:t>«Ingreso registrado: Lucía Fernández»</a:t>
            </a:r>
            <a:endParaRPr lang="en-US" sz="1300" dirty="0"/>
          </a:p>
        </p:txBody>
      </p:sp>
      <p:sp>
        <p:nvSpPr>
          <p:cNvPr id="25" name="tarjeta"/>
          <p:cNvSpPr/>
          <p:nvPr/>
        </p:nvSpPr>
        <p:spPr>
          <a:xfrm>
            <a:off x="7955280" y="3611880"/>
            <a:ext cx="3566160" cy="1051560"/>
          </a:xfrm>
          <a:prstGeom prst="roundRect">
            <a:avLst>
              <a:gd name="adj" fmla="val 8696"/>
            </a:avLst>
          </a:prstGeom>
          <a:solidFill>
            <a:srgbClr val="FFFFFF"/>
          </a:solidFill>
          <a:ln w="12700">
            <a:solidFill>
              <a:srgbClr val="E5E7EB"/>
            </a:solidFill>
            <a:prstDash val="solid"/>
          </a:ln>
          <a:effectLst>
            <a:outerShdw sx="100000" sy="100000" kx="0" ky="0" algn="bl" rotWithShape="0" blurRad="101600" dist="38100" dir="5400000">
              <a:srgbClr val="000000">
                <a:alpha val="18000"/>
              </a:srgbClr>
            </a:outerShdw>
          </a:effectLst>
        </p:spPr>
      </p:sp>
      <p:sp>
        <p:nvSpPr>
          <p:cNvPr id="26" name="icono-fondo"/>
          <p:cNvSpPr/>
          <p:nvPr/>
        </p:nvSpPr>
        <p:spPr>
          <a:xfrm>
            <a:off x="8138160" y="3840480"/>
            <a:ext cx="566928" cy="566928"/>
          </a:xfrm>
          <a:prstGeom prst="ellipse">
            <a:avLst/>
          </a:prstGeom>
          <a:solidFill>
            <a:srgbClr val="F59E0B"/>
          </a:solidFill>
          <a:ln w="12700">
            <a:solidFill>
              <a:srgbClr val="F59E0B"/>
            </a:solidFill>
            <a:prstDash val="solid"/>
          </a:ln>
        </p:spPr>
      </p:sp>
      <p:pic>
        <p:nvPicPr>
          <p:cNvPr id="27" name="icono" descr="preencoded.png">    </p:cNvPr>
          <p:cNvPicPr>
            <a:picLocks noChangeAspect="1"/>
          </p:cNvPicPr>
          <p:nvPr/>
        </p:nvPicPr>
        <p:blipFill>
          <a:blip r:embed="rId7"/>
          <a:stretch>
            <a:fillRect/>
          </a:stretch>
        </p:blipFill>
        <p:spPr>
          <a:xfrm>
            <a:off x="8279892" y="3982212"/>
            <a:ext cx="283464" cy="283464"/>
          </a:xfrm>
          <a:prstGeom prst="rect">
            <a:avLst/>
          </a:prstGeom>
        </p:spPr>
      </p:pic>
      <p:sp>
        <p:nvSpPr>
          <p:cNvPr id="28" name="Text 19"/>
          <p:cNvSpPr txBox="1"/>
          <p:nvPr/>
        </p:nvSpPr>
        <p:spPr>
          <a:xfrm>
            <a:off x="8869680" y="3749040"/>
            <a:ext cx="2514600" cy="347472"/>
          </a:xfrm>
          <a:prstGeom prst="rect">
            <a:avLst/>
          </a:prstGeom>
          <a:noFill/>
          <a:ln/>
        </p:spPr>
        <p:txBody>
          <a:bodyPr wrap="square" lIns="0" tIns="0" rIns="0" bIns="0" rtlCol="0" anchor="t"/>
          <a:lstStyle/>
          <a:p>
            <a:pPr indent="0" marL="0">
              <a:buNone/>
            </a:pPr>
            <a:r>
              <a:rPr lang="en-US" sz="1600" b="1" dirty="0">
                <a:solidFill>
                  <a:schemeClr val="tx2"/>
                </a:solidFill>
              </a:rPr>
              <a:t>Repetido</a:t>
            </a:r>
            <a:endParaRPr lang="en-US" sz="1600" dirty="0"/>
          </a:p>
        </p:txBody>
      </p:sp>
      <p:sp>
        <p:nvSpPr>
          <p:cNvPr id="29" name="Text 20"/>
          <p:cNvSpPr txBox="1"/>
          <p:nvPr/>
        </p:nvSpPr>
        <p:spPr>
          <a:xfrm>
            <a:off x="8869680" y="4087368"/>
            <a:ext cx="2514600" cy="548640"/>
          </a:xfrm>
          <a:prstGeom prst="rect">
            <a:avLst/>
          </a:prstGeom>
          <a:noFill/>
          <a:ln/>
        </p:spPr>
        <p:txBody>
          <a:bodyPr wrap="square" lIns="0" tIns="0" rIns="0" bIns="0" rtlCol="0" anchor="t"/>
          <a:lstStyle/>
          <a:p>
            <a:pPr indent="0" marL="0">
              <a:buNone/>
            </a:pPr>
            <a:r>
              <a:rPr lang="en-US" sz="1300" dirty="0">
                <a:solidFill>
                  <a:schemeClr val="tx1"/>
                </a:solidFill>
              </a:rPr>
              <a:t>«Ya había ingresado a las 18:42»: no se duplica</a:t>
            </a:r>
            <a:endParaRPr lang="en-US" sz="1300" dirty="0"/>
          </a:p>
        </p:txBody>
      </p:sp>
      <p:sp>
        <p:nvSpPr>
          <p:cNvPr id="30" name="tarjeta"/>
          <p:cNvSpPr/>
          <p:nvPr/>
        </p:nvSpPr>
        <p:spPr>
          <a:xfrm>
            <a:off x="4206240" y="4846320"/>
            <a:ext cx="3566160" cy="1051560"/>
          </a:xfrm>
          <a:prstGeom prst="roundRect">
            <a:avLst>
              <a:gd name="adj" fmla="val 8696"/>
            </a:avLst>
          </a:prstGeom>
          <a:solidFill>
            <a:srgbClr val="FFFFFF"/>
          </a:solidFill>
          <a:ln w="12700">
            <a:solidFill>
              <a:srgbClr val="E5E7EB"/>
            </a:solidFill>
            <a:prstDash val="solid"/>
          </a:ln>
          <a:effectLst>
            <a:outerShdw sx="100000" sy="100000" kx="0" ky="0" algn="bl" rotWithShape="0" blurRad="101600" dist="38100" dir="5400000">
              <a:srgbClr val="000000">
                <a:alpha val="18000"/>
              </a:srgbClr>
            </a:outerShdw>
          </a:effectLst>
        </p:spPr>
      </p:sp>
      <p:sp>
        <p:nvSpPr>
          <p:cNvPr id="31" name="icono-fondo"/>
          <p:cNvSpPr/>
          <p:nvPr/>
        </p:nvSpPr>
        <p:spPr>
          <a:xfrm>
            <a:off x="4389120" y="5074920"/>
            <a:ext cx="566928" cy="566928"/>
          </a:xfrm>
          <a:prstGeom prst="ellipse">
            <a:avLst/>
          </a:prstGeom>
          <a:solidFill>
            <a:srgbClr val="DC2626"/>
          </a:solidFill>
          <a:ln w="12700">
            <a:solidFill>
              <a:srgbClr val="DC2626"/>
            </a:solidFill>
            <a:prstDash val="solid"/>
          </a:ln>
        </p:spPr>
      </p:sp>
      <p:pic>
        <p:nvPicPr>
          <p:cNvPr id="32" name="icono" descr="preencoded.png">    </p:cNvPr>
          <p:cNvPicPr>
            <a:picLocks noChangeAspect="1"/>
          </p:cNvPicPr>
          <p:nvPr/>
        </p:nvPicPr>
        <p:blipFill>
          <a:blip r:embed="rId8"/>
          <a:stretch>
            <a:fillRect/>
          </a:stretch>
        </p:blipFill>
        <p:spPr>
          <a:xfrm>
            <a:off x="4530852" y="5216652"/>
            <a:ext cx="283464" cy="283464"/>
          </a:xfrm>
          <a:prstGeom prst="rect">
            <a:avLst/>
          </a:prstGeom>
        </p:spPr>
      </p:pic>
      <p:sp>
        <p:nvSpPr>
          <p:cNvPr id="33" name="Text 23"/>
          <p:cNvSpPr txBox="1"/>
          <p:nvPr/>
        </p:nvSpPr>
        <p:spPr>
          <a:xfrm>
            <a:off x="5120640" y="4983480"/>
            <a:ext cx="2514600" cy="347472"/>
          </a:xfrm>
          <a:prstGeom prst="rect">
            <a:avLst/>
          </a:prstGeom>
          <a:noFill/>
          <a:ln/>
        </p:spPr>
        <p:txBody>
          <a:bodyPr wrap="square" lIns="0" tIns="0" rIns="0" bIns="0" rtlCol="0" anchor="t"/>
          <a:lstStyle/>
          <a:p>
            <a:pPr indent="0" marL="0">
              <a:buNone/>
            </a:pPr>
            <a:r>
              <a:rPr lang="en-US" sz="1600" b="1" dirty="0">
                <a:solidFill>
                  <a:schemeClr val="tx2"/>
                </a:solidFill>
              </a:rPr>
              <a:t>Otro evento o inválido</a:t>
            </a:r>
            <a:endParaRPr lang="en-US" sz="1600" dirty="0"/>
          </a:p>
        </p:txBody>
      </p:sp>
      <p:sp>
        <p:nvSpPr>
          <p:cNvPr id="34" name="Text 24"/>
          <p:cNvSpPr txBox="1"/>
          <p:nvPr/>
        </p:nvSpPr>
        <p:spPr>
          <a:xfrm>
            <a:off x="5120640" y="5321808"/>
            <a:ext cx="2514600" cy="548640"/>
          </a:xfrm>
          <a:prstGeom prst="rect">
            <a:avLst/>
          </a:prstGeom>
          <a:noFill/>
          <a:ln/>
        </p:spPr>
        <p:txBody>
          <a:bodyPr wrap="square" lIns="0" tIns="0" rIns="0" bIns="0" rtlCol="0" anchor="t"/>
          <a:lstStyle/>
          <a:p>
            <a:pPr indent="0" marL="0">
              <a:buNone/>
            </a:pPr>
            <a:r>
              <a:rPr lang="en-US" sz="1300" dirty="0">
                <a:solidFill>
                  <a:schemeClr val="tx1"/>
                </a:solidFill>
              </a:rPr>
              <a:t>Rechazo con el motivo exacto</a:t>
            </a:r>
            <a:endParaRPr lang="en-US" sz="1300" dirty="0"/>
          </a:p>
        </p:txBody>
      </p:sp>
      <p:sp>
        <p:nvSpPr>
          <p:cNvPr id="35" name="tarjeta"/>
          <p:cNvSpPr/>
          <p:nvPr/>
        </p:nvSpPr>
        <p:spPr>
          <a:xfrm>
            <a:off x="7955280" y="4846320"/>
            <a:ext cx="3566160" cy="1051560"/>
          </a:xfrm>
          <a:prstGeom prst="roundRect">
            <a:avLst>
              <a:gd name="adj" fmla="val 8696"/>
            </a:avLst>
          </a:prstGeom>
          <a:solidFill>
            <a:srgbClr val="FFFFFF"/>
          </a:solidFill>
          <a:ln w="12700">
            <a:solidFill>
              <a:srgbClr val="E5E7EB"/>
            </a:solidFill>
            <a:prstDash val="solid"/>
          </a:ln>
          <a:effectLst>
            <a:outerShdw sx="100000" sy="100000" kx="0" ky="0" algn="bl" rotWithShape="0" blurRad="101600" dist="38100" dir="5400000">
              <a:srgbClr val="000000">
                <a:alpha val="18000"/>
              </a:srgbClr>
            </a:outerShdw>
          </a:effectLst>
        </p:spPr>
      </p:sp>
      <p:sp>
        <p:nvSpPr>
          <p:cNvPr id="36" name="icono-fondo"/>
          <p:cNvSpPr/>
          <p:nvPr/>
        </p:nvSpPr>
        <p:spPr>
          <a:xfrm>
            <a:off x="8138160" y="5074920"/>
            <a:ext cx="566928" cy="566928"/>
          </a:xfrm>
          <a:prstGeom prst="ellipse">
            <a:avLst/>
          </a:prstGeom>
          <a:solidFill>
            <a:srgbClr val="F59E0B"/>
          </a:solidFill>
          <a:ln w="12700">
            <a:solidFill>
              <a:srgbClr val="F59E0B"/>
            </a:solidFill>
            <a:prstDash val="solid"/>
          </a:ln>
        </p:spPr>
      </p:sp>
      <p:pic>
        <p:nvPicPr>
          <p:cNvPr id="37" name="icono" descr="preencoded.png">    </p:cNvPr>
          <p:cNvPicPr>
            <a:picLocks noChangeAspect="1"/>
          </p:cNvPicPr>
          <p:nvPr/>
        </p:nvPicPr>
        <p:blipFill>
          <a:blip r:embed="rId9"/>
          <a:stretch>
            <a:fillRect/>
          </a:stretch>
        </p:blipFill>
        <p:spPr>
          <a:xfrm>
            <a:off x="8279892" y="5216652"/>
            <a:ext cx="283464" cy="283464"/>
          </a:xfrm>
          <a:prstGeom prst="rect">
            <a:avLst/>
          </a:prstGeom>
        </p:spPr>
      </p:pic>
      <p:sp>
        <p:nvSpPr>
          <p:cNvPr id="38" name="Text 27"/>
          <p:cNvSpPr txBox="1"/>
          <p:nvPr/>
        </p:nvSpPr>
        <p:spPr>
          <a:xfrm>
            <a:off x="8869680" y="4983480"/>
            <a:ext cx="2514600" cy="347472"/>
          </a:xfrm>
          <a:prstGeom prst="rect">
            <a:avLst/>
          </a:prstGeom>
          <a:noFill/>
          <a:ln/>
        </p:spPr>
        <p:txBody>
          <a:bodyPr wrap="square" lIns="0" tIns="0" rIns="0" bIns="0" rtlCol="0" anchor="t"/>
          <a:lstStyle/>
          <a:p>
            <a:pPr indent="0" marL="0">
              <a:buNone/>
            </a:pPr>
            <a:r>
              <a:rPr lang="en-US" sz="1600" b="1" dirty="0">
                <a:solidFill>
                  <a:schemeClr val="tx2"/>
                </a:solidFill>
              </a:rPr>
              <a:t>Sin confirmar</a:t>
            </a:r>
            <a:endParaRPr lang="en-US" sz="1600" dirty="0"/>
          </a:p>
        </p:txBody>
      </p:sp>
      <p:sp>
        <p:nvSpPr>
          <p:cNvPr id="39" name="Text 28"/>
          <p:cNvSpPr txBox="1"/>
          <p:nvPr/>
        </p:nvSpPr>
        <p:spPr>
          <a:xfrm>
            <a:off x="8869680" y="5321808"/>
            <a:ext cx="2514600" cy="548640"/>
          </a:xfrm>
          <a:prstGeom prst="rect">
            <a:avLst/>
          </a:prstGeom>
          <a:noFill/>
          <a:ln/>
        </p:spPr>
        <p:txBody>
          <a:bodyPr wrap="square" lIns="0" tIns="0" rIns="0" bIns="0" rtlCol="0" anchor="t"/>
          <a:lstStyle/>
          <a:p>
            <a:pPr indent="0" marL="0">
              <a:buNone/>
            </a:pPr>
            <a:r>
              <a:rPr lang="en-US" sz="1300" dirty="0">
                <a:solidFill>
                  <a:schemeClr val="tx1"/>
                </a:solidFill>
              </a:rPr>
              <a:t>Rechazo hasta que confirme su asistencia</a:t>
            </a:r>
            <a:endParaRPr lang="en-US" sz="13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320040"/>
          </a:xfrm>
          <a:prstGeom prst="rect">
            <a:avLst/>
          </a:prstGeom>
          <a:noFill/>
          <a:ln/>
        </p:spPr>
        <p:txBody>
          <a:bodyPr wrap="square" lIns="0" tIns="0" rIns="0" bIns="0" rtlCol="0"/>
          <a:lstStyle/>
          <a:p>
            <a:pPr indent="0" marL="0">
              <a:buNone/>
            </a:pPr>
            <a:r>
              <a:rPr lang="en-US" sz="1200" b="1" spc="200" kern="0" dirty="0">
                <a:solidFill>
                  <a:schemeClr val="accent1"/>
                </a:solidFill>
              </a:rPr>
              <a:t>02 · FUNCIONALIDADES</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400" b="1" dirty="0">
                <a:solidFill>
                  <a:schemeClr val="tx2"/>
                </a:solidFill>
              </a:rPr>
              <a:t>Gastos con presupuesto y reportes en Excel</a:t>
            </a:r>
            <a:endParaRPr lang="en-US" sz="3400" dirty="0"/>
          </a:p>
        </p:txBody>
      </p:sp>
      <p:sp>
        <p:nvSpPr>
          <p:cNvPr id="4" name="ventana"/>
          <p:cNvSpPr/>
          <p:nvPr/>
        </p:nvSpPr>
        <p:spPr>
          <a:xfrm>
            <a:off x="548640" y="1463040"/>
            <a:ext cx="5760720" cy="3801618"/>
          </a:xfrm>
          <a:prstGeom prst="roundRect">
            <a:avLst>
              <a:gd name="adj" fmla="val 1924"/>
            </a:avLst>
          </a:prstGeom>
          <a:solidFill>
            <a:srgbClr val="E5E7EB"/>
          </a:solidFill>
          <a:ln w="9525">
            <a:solidFill>
              <a:srgbClr val="D1D5DB"/>
            </a:solidFill>
            <a:prstDash val="solid"/>
          </a:ln>
          <a:effectLst>
            <a:outerShdw sx="100000" sy="100000" kx="0" ky="0" algn="bl" rotWithShape="0" blurRad="101600" dist="38100" dir="5400000">
              <a:srgbClr val="000000">
                <a:alpha val="18000"/>
              </a:srgbClr>
            </a:outerShdw>
          </a:effectLst>
        </p:spPr>
      </p:sp>
      <p:sp>
        <p:nvSpPr>
          <p:cNvPr id="5" name="Shape 3"/>
          <p:cNvSpPr/>
          <p:nvPr/>
        </p:nvSpPr>
        <p:spPr>
          <a:xfrm>
            <a:off x="658368" y="1517904"/>
            <a:ext cx="91440" cy="91440"/>
          </a:xfrm>
          <a:prstGeom prst="ellipse">
            <a:avLst/>
          </a:prstGeom>
          <a:solidFill>
            <a:srgbClr val="F87171"/>
          </a:solidFill>
          <a:ln w="12700">
            <a:solidFill>
              <a:srgbClr val="F87171"/>
            </a:solidFill>
            <a:prstDash val="solid"/>
          </a:ln>
        </p:spPr>
      </p:sp>
      <p:sp>
        <p:nvSpPr>
          <p:cNvPr id="6" name="Shape 4"/>
          <p:cNvSpPr/>
          <p:nvPr/>
        </p:nvSpPr>
        <p:spPr>
          <a:xfrm>
            <a:off x="804672" y="1517904"/>
            <a:ext cx="91440" cy="91440"/>
          </a:xfrm>
          <a:prstGeom prst="ellipse">
            <a:avLst/>
          </a:prstGeom>
          <a:solidFill>
            <a:srgbClr val="FBBF24"/>
          </a:solidFill>
          <a:ln w="12700">
            <a:solidFill>
              <a:srgbClr val="FBBF24"/>
            </a:solidFill>
            <a:prstDash val="solid"/>
          </a:ln>
        </p:spPr>
      </p:sp>
      <p:sp>
        <p:nvSpPr>
          <p:cNvPr id="7" name="Shape 5"/>
          <p:cNvSpPr/>
          <p:nvPr/>
        </p:nvSpPr>
        <p:spPr>
          <a:xfrm>
            <a:off x="950976" y="1517904"/>
            <a:ext cx="91440" cy="91440"/>
          </a:xfrm>
          <a:prstGeom prst="ellipse">
            <a:avLst/>
          </a:prstGeom>
          <a:solidFill>
            <a:srgbClr val="34D399"/>
          </a:solidFill>
          <a:ln w="12700">
            <a:solidFill>
              <a:srgbClr val="34D399"/>
            </a:solidFill>
            <a:prstDash val="solid"/>
          </a:ln>
        </p:spPr>
      </p:sp>
      <p:pic>
        <p:nvPicPr>
          <p:cNvPr id="8" name="captura" descr="/tmp/claude-0/ppt/img/d_gastos.jpg">    </p:cNvPr>
          <p:cNvPicPr>
            <a:picLocks noChangeAspect="1"/>
          </p:cNvPicPr>
          <p:nvPr/>
        </p:nvPicPr>
        <p:blipFill>
          <a:blip r:embed="rId1"/>
          <a:stretch>
            <a:fillRect/>
          </a:stretch>
        </p:blipFill>
        <p:spPr>
          <a:xfrm>
            <a:off x="548640" y="1664208"/>
            <a:ext cx="5760720" cy="3600450"/>
          </a:xfrm>
          <a:prstGeom prst="rect">
            <a:avLst/>
          </a:prstGeom>
        </p:spPr>
      </p:pic>
      <p:sp>
        <p:nvSpPr>
          <p:cNvPr id="9" name="marco-excel"/>
          <p:cNvSpPr/>
          <p:nvPr/>
        </p:nvSpPr>
        <p:spPr>
          <a:xfrm>
            <a:off x="6583680" y="1463040"/>
            <a:ext cx="5303520" cy="2537805"/>
          </a:xfrm>
          <a:prstGeom prst="roundRect">
            <a:avLst>
              <a:gd name="adj" fmla="val 2882"/>
            </a:avLst>
          </a:prstGeom>
          <a:solidFill>
            <a:srgbClr val="FFFFFF"/>
          </a:solidFill>
          <a:ln w="12700">
            <a:solidFill>
              <a:srgbClr val="E5E7EB"/>
            </a:solidFill>
            <a:prstDash val="solid"/>
          </a:ln>
          <a:effectLst>
            <a:outerShdw sx="100000" sy="100000" kx="0" ky="0" algn="bl" rotWithShape="0" blurRad="101600" dist="38100" dir="5400000">
              <a:srgbClr val="000000">
                <a:alpha val="18000"/>
              </a:srgbClr>
            </a:outerShdw>
          </a:effectLst>
        </p:spPr>
      </p:sp>
      <p:pic>
        <p:nvPicPr>
          <p:cNvPr id="10" name="excel" descr="/tmp/claude-0/ppt/img/excel.png">    </p:cNvPr>
          <p:cNvPicPr>
            <a:picLocks noChangeAspect="1"/>
          </p:cNvPicPr>
          <p:nvPr/>
        </p:nvPicPr>
        <p:blipFill>
          <a:blip r:embed="rId2"/>
          <a:stretch>
            <a:fillRect/>
          </a:stretch>
        </p:blipFill>
        <p:spPr>
          <a:xfrm>
            <a:off x="6675120" y="1554480"/>
            <a:ext cx="5120640" cy="2354925"/>
          </a:xfrm>
          <a:prstGeom prst="rect">
            <a:avLst/>
          </a:prstGeom>
        </p:spPr>
      </p:pic>
      <p:sp>
        <p:nvSpPr>
          <p:cNvPr id="11" name="icono-fondo"/>
          <p:cNvSpPr/>
          <p:nvPr/>
        </p:nvSpPr>
        <p:spPr>
          <a:xfrm>
            <a:off x="6675120" y="4320885"/>
            <a:ext cx="530352" cy="530352"/>
          </a:xfrm>
          <a:prstGeom prst="ellipse">
            <a:avLst/>
          </a:prstGeom>
          <a:solidFill>
            <a:srgbClr val="4F46E5"/>
          </a:solidFill>
          <a:ln w="12700">
            <a:solidFill>
              <a:srgbClr val="4F46E5"/>
            </a:solidFill>
            <a:prstDash val="solid"/>
          </a:ln>
        </p:spPr>
      </p:sp>
      <p:pic>
        <p:nvPicPr>
          <p:cNvPr id="12" name="icono" descr="preencoded.png">    </p:cNvPr>
          <p:cNvPicPr>
            <a:picLocks noChangeAspect="1"/>
          </p:cNvPicPr>
          <p:nvPr/>
        </p:nvPicPr>
        <p:blipFill>
          <a:blip r:embed="rId3"/>
          <a:stretch>
            <a:fillRect/>
          </a:stretch>
        </p:blipFill>
        <p:spPr>
          <a:xfrm>
            <a:off x="6807708" y="4453473"/>
            <a:ext cx="265176" cy="265176"/>
          </a:xfrm>
          <a:prstGeom prst="rect">
            <a:avLst/>
          </a:prstGeom>
        </p:spPr>
      </p:pic>
      <p:sp>
        <p:nvSpPr>
          <p:cNvPr id="13" name="Text 8"/>
          <p:cNvSpPr txBox="1"/>
          <p:nvPr/>
        </p:nvSpPr>
        <p:spPr>
          <a:xfrm>
            <a:off x="7406640" y="4302597"/>
            <a:ext cx="4297680" cy="347472"/>
          </a:xfrm>
          <a:prstGeom prst="rect">
            <a:avLst/>
          </a:prstGeom>
          <a:noFill/>
          <a:ln/>
        </p:spPr>
        <p:txBody>
          <a:bodyPr wrap="square" lIns="0" tIns="0" rIns="0" bIns="0" rtlCol="0" anchor="t"/>
          <a:lstStyle/>
          <a:p>
            <a:pPr indent="0" marL="0">
              <a:buNone/>
            </a:pPr>
            <a:r>
              <a:rPr lang="en-US" sz="1700" b="1" dirty="0">
                <a:solidFill>
                  <a:schemeClr val="tx2"/>
                </a:solidFill>
              </a:rPr>
              <a:t>Barra de presupuesto</a:t>
            </a:r>
            <a:endParaRPr lang="en-US" sz="1700" dirty="0"/>
          </a:p>
        </p:txBody>
      </p:sp>
      <p:sp>
        <p:nvSpPr>
          <p:cNvPr id="14" name="Text 9"/>
          <p:cNvSpPr txBox="1"/>
          <p:nvPr/>
        </p:nvSpPr>
        <p:spPr>
          <a:xfrm>
            <a:off x="7406640" y="4650069"/>
            <a:ext cx="4297680" cy="457200"/>
          </a:xfrm>
          <a:prstGeom prst="rect">
            <a:avLst/>
          </a:prstGeom>
          <a:noFill/>
          <a:ln/>
        </p:spPr>
        <p:txBody>
          <a:bodyPr wrap="square" lIns="0" tIns="0" rIns="0" bIns="0" rtlCol="0" anchor="t"/>
          <a:lstStyle/>
          <a:p>
            <a:pPr indent="0" marL="0">
              <a:buNone/>
            </a:pPr>
            <a:r>
              <a:rPr lang="en-US" sz="1400" dirty="0">
                <a:solidFill>
                  <a:schemeClr val="tx1"/>
                </a:solidFill>
              </a:rPr>
              <a:t>Verde, amarilla desde el 80 % y roja al superarlo.</a:t>
            </a:r>
            <a:endParaRPr lang="en-US" sz="1400" dirty="0"/>
          </a:p>
        </p:txBody>
      </p:sp>
      <p:sp>
        <p:nvSpPr>
          <p:cNvPr id="15" name="icono-fondo"/>
          <p:cNvSpPr/>
          <p:nvPr/>
        </p:nvSpPr>
        <p:spPr>
          <a:xfrm>
            <a:off x="6675120" y="5281005"/>
            <a:ext cx="530352" cy="530352"/>
          </a:xfrm>
          <a:prstGeom prst="ellipse">
            <a:avLst/>
          </a:prstGeom>
          <a:solidFill>
            <a:srgbClr val="4F46E5"/>
          </a:solidFill>
          <a:ln w="12700">
            <a:solidFill>
              <a:srgbClr val="4F46E5"/>
            </a:solidFill>
            <a:prstDash val="solid"/>
          </a:ln>
        </p:spPr>
      </p:sp>
      <p:pic>
        <p:nvPicPr>
          <p:cNvPr id="16" name="icono" descr="preencoded.png">    </p:cNvPr>
          <p:cNvPicPr>
            <a:picLocks noChangeAspect="1"/>
          </p:cNvPicPr>
          <p:nvPr/>
        </p:nvPicPr>
        <p:blipFill>
          <a:blip r:embed="rId4"/>
          <a:stretch>
            <a:fillRect/>
          </a:stretch>
        </p:blipFill>
        <p:spPr>
          <a:xfrm>
            <a:off x="6807708" y="5413593"/>
            <a:ext cx="265176" cy="265176"/>
          </a:xfrm>
          <a:prstGeom prst="rect">
            <a:avLst/>
          </a:prstGeom>
        </p:spPr>
      </p:pic>
      <p:sp>
        <p:nvSpPr>
          <p:cNvPr id="17" name="Text 11"/>
          <p:cNvSpPr txBox="1"/>
          <p:nvPr/>
        </p:nvSpPr>
        <p:spPr>
          <a:xfrm>
            <a:off x="7406640" y="5262717"/>
            <a:ext cx="4297680" cy="347472"/>
          </a:xfrm>
          <a:prstGeom prst="rect">
            <a:avLst/>
          </a:prstGeom>
          <a:noFill/>
          <a:ln/>
        </p:spPr>
        <p:txBody>
          <a:bodyPr wrap="square" lIns="0" tIns="0" rIns="0" bIns="0" rtlCol="0" anchor="t"/>
          <a:lstStyle/>
          <a:p>
            <a:pPr indent="0" marL="0">
              <a:buNone/>
            </a:pPr>
            <a:r>
              <a:rPr lang="en-US" sz="1700" b="1" dirty="0">
                <a:solidFill>
                  <a:schemeClr val="tx2"/>
                </a:solidFill>
              </a:rPr>
              <a:t>Excel con formato</a:t>
            </a:r>
            <a:endParaRPr lang="en-US" sz="1700" dirty="0"/>
          </a:p>
        </p:txBody>
      </p:sp>
      <p:sp>
        <p:nvSpPr>
          <p:cNvPr id="18" name="Text 12"/>
          <p:cNvSpPr txBox="1"/>
          <p:nvPr/>
        </p:nvSpPr>
        <p:spPr>
          <a:xfrm>
            <a:off x="7406640" y="5610189"/>
            <a:ext cx="4297680" cy="457200"/>
          </a:xfrm>
          <a:prstGeom prst="rect">
            <a:avLst/>
          </a:prstGeom>
          <a:noFill/>
          <a:ln/>
        </p:spPr>
        <p:txBody>
          <a:bodyPr wrap="square" lIns="0" tIns="0" rIns="0" bIns="0" rtlCol="0" anchor="t"/>
          <a:lstStyle/>
          <a:p>
            <a:pPr indent="0" marL="0">
              <a:buNone/>
            </a:pPr>
            <a:r>
              <a:rPr lang="en-US" sz="1400" dirty="0">
                <a:solidFill>
                  <a:schemeClr val="tx1"/>
                </a:solidFill>
              </a:rPr>
              <a:t>Moneda, fechas, filtros y totales con fórmulas.</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320040"/>
          </a:xfrm>
          <a:prstGeom prst="rect">
            <a:avLst/>
          </a:prstGeom>
          <a:noFill/>
          <a:ln/>
        </p:spPr>
        <p:txBody>
          <a:bodyPr wrap="square" lIns="0" tIns="0" rIns="0" bIns="0" rtlCol="0"/>
          <a:lstStyle/>
          <a:p>
            <a:pPr indent="0" marL="0">
              <a:buNone/>
            </a:pPr>
            <a:r>
              <a:rPr lang="en-US" sz="1200" b="1" spc="200" kern="0" dirty="0">
                <a:solidFill>
                  <a:schemeClr val="accent1"/>
                </a:solidFill>
              </a:rPr>
              <a:t>02 · FUNCIONALIDADES</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400" b="1" dirty="0">
                <a:solidFill>
                  <a:schemeClr val="tx2"/>
                </a:solidFill>
              </a:rPr>
              <a:t>Colaboradores y uso desde el celular</a:t>
            </a:r>
            <a:endParaRPr lang="en-US" sz="3400" dirty="0"/>
          </a:p>
        </p:txBody>
      </p:sp>
      <p:sp>
        <p:nvSpPr>
          <p:cNvPr id="4" name="celular"/>
          <p:cNvSpPr/>
          <p:nvPr/>
        </p:nvSpPr>
        <p:spPr>
          <a:xfrm>
            <a:off x="548640" y="1417320"/>
            <a:ext cx="2774462" cy="4892040"/>
          </a:xfrm>
          <a:prstGeom prst="roundRect">
            <a:avLst>
              <a:gd name="adj" fmla="val 7251"/>
            </a:avLst>
          </a:prstGeom>
          <a:solidFill>
            <a:srgbClr val="111827"/>
          </a:solidFill>
          <a:ln w="12700">
            <a:solidFill>
              <a:srgbClr val="111827"/>
            </a:solidFill>
            <a:prstDash val="solid"/>
          </a:ln>
          <a:effectLst>
            <a:outerShdw sx="100000" sy="100000" kx="0" ky="0" algn="bl" rotWithShape="0" blurRad="101600" dist="38100" dir="5400000">
              <a:srgbClr val="000000">
                <a:alpha val="18000"/>
              </a:srgbClr>
            </a:outerShdw>
          </a:effectLst>
        </p:spPr>
      </p:sp>
      <p:pic>
        <p:nvPicPr>
          <p:cNvPr id="5" name="captura-celular" descr="/tmp/claude-0/ppt/img/ph_colab_eventos.jpg">    </p:cNvPr>
          <p:cNvPicPr>
            <a:picLocks noChangeAspect="1"/>
          </p:cNvPicPr>
          <p:nvPr/>
        </p:nvPicPr>
        <p:blipFill>
          <a:blip r:embed="rId1"/>
          <a:stretch>
            <a:fillRect/>
          </a:stretch>
        </p:blipFill>
        <p:spPr>
          <a:xfrm>
            <a:off x="630936" y="1499616"/>
            <a:ext cx="2609870" cy="4727448"/>
          </a:xfrm>
          <a:prstGeom prst="rect">
            <a:avLst/>
          </a:prstGeom>
        </p:spPr>
      </p:pic>
      <p:sp>
        <p:nvSpPr>
          <p:cNvPr id="6" name="celular"/>
          <p:cNvSpPr/>
          <p:nvPr/>
        </p:nvSpPr>
        <p:spPr>
          <a:xfrm>
            <a:off x="3643142" y="1417320"/>
            <a:ext cx="2774462" cy="4892040"/>
          </a:xfrm>
          <a:prstGeom prst="roundRect">
            <a:avLst>
              <a:gd name="adj" fmla="val 7251"/>
            </a:avLst>
          </a:prstGeom>
          <a:solidFill>
            <a:srgbClr val="111827"/>
          </a:solidFill>
          <a:ln w="12700">
            <a:solidFill>
              <a:srgbClr val="111827"/>
            </a:solidFill>
            <a:prstDash val="solid"/>
          </a:ln>
          <a:effectLst>
            <a:outerShdw sx="100000" sy="100000" kx="0" ky="0" algn="bl" rotWithShape="0" blurRad="101600" dist="38100" dir="5400000">
              <a:srgbClr val="000000">
                <a:alpha val="18000"/>
              </a:srgbClr>
            </a:outerShdw>
          </a:effectLst>
        </p:spPr>
      </p:sp>
      <p:pic>
        <p:nvPicPr>
          <p:cNvPr id="7" name="captura-celular" descr="/tmp/claude-0/ppt/img/ph_colab_detalle.jpg">    </p:cNvPr>
          <p:cNvPicPr>
            <a:picLocks noChangeAspect="1"/>
          </p:cNvPicPr>
          <p:nvPr/>
        </p:nvPicPr>
        <p:blipFill>
          <a:blip r:embed="rId2"/>
          <a:stretch>
            <a:fillRect/>
          </a:stretch>
        </p:blipFill>
        <p:spPr>
          <a:xfrm>
            <a:off x="3725438" y="1499616"/>
            <a:ext cx="2609870" cy="4727448"/>
          </a:xfrm>
          <a:prstGeom prst="rect">
            <a:avLst/>
          </a:prstGeom>
        </p:spPr>
      </p:pic>
      <p:sp>
        <p:nvSpPr>
          <p:cNvPr id="8" name="Text 4"/>
          <p:cNvSpPr txBox="1"/>
          <p:nvPr/>
        </p:nvSpPr>
        <p:spPr>
          <a:xfrm>
            <a:off x="6874804" y="1508760"/>
            <a:ext cx="4765508" cy="365760"/>
          </a:xfrm>
          <a:prstGeom prst="rect">
            <a:avLst/>
          </a:prstGeom>
          <a:noFill/>
          <a:ln/>
        </p:spPr>
        <p:txBody>
          <a:bodyPr wrap="square" lIns="0" tIns="0" rIns="0" bIns="0" rtlCol="0" anchor="t"/>
          <a:lstStyle/>
          <a:p>
            <a:pPr indent="0" marL="0">
              <a:buNone/>
            </a:pPr>
            <a:r>
              <a:rPr lang="en-US" sz="1800" b="1" dirty="0">
                <a:solidFill>
                  <a:schemeClr val="accent2"/>
                </a:solidFill>
              </a:rPr>
              <a:t>El colaborador puede</a:t>
            </a:r>
            <a:endParaRPr lang="en-US" sz="1800" dirty="0"/>
          </a:p>
        </p:txBody>
      </p:sp>
      <p:sp>
        <p:nvSpPr>
          <p:cNvPr id="9" name="Text 5"/>
          <p:cNvSpPr txBox="1"/>
          <p:nvPr/>
        </p:nvSpPr>
        <p:spPr>
          <a:xfrm>
            <a:off x="6874804" y="1920240"/>
            <a:ext cx="4765508" cy="77724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Ver el evento y hacer el check-in</a:t>
            </a:r>
            <a:endParaRPr lang="en-US" sz="1500" dirty="0"/>
          </a:p>
          <a:p>
            <a:pPr marL="342900" indent="-342900">
              <a:spcAft>
                <a:spcPts val="400"/>
              </a:spcAft>
              <a:buSzPct val="100000"/>
              <a:buChar char="•"/>
            </a:pPr>
            <a:r>
              <a:rPr lang="en-US" sz="1500" dirty="0">
                <a:solidFill>
                  <a:schemeClr val="tx1"/>
                </a:solidFill>
              </a:rPr>
              <a:t>Ver el historial de asistencia</a:t>
            </a:r>
            <a:endParaRPr lang="en-US" sz="1500" dirty="0"/>
          </a:p>
        </p:txBody>
      </p:sp>
      <p:sp>
        <p:nvSpPr>
          <p:cNvPr id="10" name="Text 6"/>
          <p:cNvSpPr txBox="1"/>
          <p:nvPr/>
        </p:nvSpPr>
        <p:spPr>
          <a:xfrm>
            <a:off x="6874804" y="2834640"/>
            <a:ext cx="4765508" cy="365760"/>
          </a:xfrm>
          <a:prstGeom prst="rect">
            <a:avLst/>
          </a:prstGeom>
          <a:noFill/>
          <a:ln/>
        </p:spPr>
        <p:txBody>
          <a:bodyPr wrap="square" lIns="0" tIns="0" rIns="0" bIns="0" rtlCol="0" anchor="t"/>
          <a:lstStyle/>
          <a:p>
            <a:pPr indent="0" marL="0">
              <a:buNone/>
            </a:pPr>
            <a:r>
              <a:rPr lang="en-US" sz="1800" b="1" dirty="0">
                <a:solidFill>
                  <a:schemeClr val="accent4"/>
                </a:solidFill>
              </a:rPr>
              <a:t>No puede</a:t>
            </a:r>
            <a:endParaRPr lang="en-US" sz="1800" dirty="0"/>
          </a:p>
        </p:txBody>
      </p:sp>
      <p:sp>
        <p:nvSpPr>
          <p:cNvPr id="11" name="Text 7"/>
          <p:cNvSpPr txBox="1"/>
          <p:nvPr/>
        </p:nvSpPr>
        <p:spPr>
          <a:xfrm>
            <a:off x="6874804" y="3246120"/>
            <a:ext cx="4765508" cy="77724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Editar el evento ni sus invitados</a:t>
            </a:r>
            <a:endParaRPr lang="en-US" sz="1500" dirty="0"/>
          </a:p>
          <a:p>
            <a:pPr marL="342900" indent="-342900">
              <a:spcAft>
                <a:spcPts val="400"/>
              </a:spcAft>
              <a:buSzPct val="100000"/>
              <a:buChar char="•"/>
            </a:pPr>
            <a:r>
              <a:rPr lang="en-US" sz="1500" dirty="0">
                <a:solidFill>
                  <a:schemeClr val="tx1"/>
                </a:solidFill>
              </a:rPr>
              <a:t>Ver gastos ni descargar reportes</a:t>
            </a:r>
            <a:endParaRPr lang="en-US" sz="1500" dirty="0"/>
          </a:p>
        </p:txBody>
      </p:sp>
      <p:sp>
        <p:nvSpPr>
          <p:cNvPr id="12" name="tarjeta"/>
          <p:cNvSpPr/>
          <p:nvPr/>
        </p:nvSpPr>
        <p:spPr>
          <a:xfrm>
            <a:off x="6874804" y="4251960"/>
            <a:ext cx="4765508" cy="1828800"/>
          </a:xfrm>
          <a:prstGeom prst="roundRect">
            <a:avLst>
              <a:gd name="adj" fmla="val 6000"/>
            </a:avLst>
          </a:prstGeom>
          <a:solidFill>
            <a:srgbClr val="EEF2FF"/>
          </a:solidFill>
          <a:ln w="12700">
            <a:solidFill>
              <a:srgbClr val="EEF2FF"/>
            </a:solidFill>
            <a:prstDash val="solid"/>
          </a:ln>
        </p:spPr>
      </p:sp>
      <p:sp>
        <p:nvSpPr>
          <p:cNvPr id="13" name="icono-fondo"/>
          <p:cNvSpPr/>
          <p:nvPr/>
        </p:nvSpPr>
        <p:spPr>
          <a:xfrm>
            <a:off x="7103404" y="4480560"/>
            <a:ext cx="548640" cy="548640"/>
          </a:xfrm>
          <a:prstGeom prst="ellipse">
            <a:avLst/>
          </a:prstGeom>
          <a:solidFill>
            <a:srgbClr val="4F46E5"/>
          </a:solidFill>
          <a:ln w="12700">
            <a:solidFill>
              <a:srgbClr val="4F46E5"/>
            </a:solidFill>
            <a:prstDash val="solid"/>
          </a:ln>
        </p:spPr>
      </p:sp>
      <p:pic>
        <p:nvPicPr>
          <p:cNvPr id="14" name="icono" descr="preencoded.png">    </p:cNvPr>
          <p:cNvPicPr>
            <a:picLocks noChangeAspect="1"/>
          </p:cNvPicPr>
          <p:nvPr/>
        </p:nvPicPr>
        <p:blipFill>
          <a:blip r:embed="rId3"/>
          <a:stretch>
            <a:fillRect/>
          </a:stretch>
        </p:blipFill>
        <p:spPr>
          <a:xfrm>
            <a:off x="7240564" y="4617720"/>
            <a:ext cx="274320" cy="274320"/>
          </a:xfrm>
          <a:prstGeom prst="rect">
            <a:avLst/>
          </a:prstGeom>
        </p:spPr>
      </p:pic>
      <p:sp>
        <p:nvSpPr>
          <p:cNvPr id="15" name="Text 10"/>
          <p:cNvSpPr txBox="1"/>
          <p:nvPr/>
        </p:nvSpPr>
        <p:spPr>
          <a:xfrm>
            <a:off x="7789204" y="4498848"/>
            <a:ext cx="3668228" cy="365760"/>
          </a:xfrm>
          <a:prstGeom prst="rect">
            <a:avLst/>
          </a:prstGeom>
          <a:noFill/>
          <a:ln/>
        </p:spPr>
        <p:txBody>
          <a:bodyPr wrap="square" lIns="0" tIns="0" rIns="0" bIns="0" rtlCol="0" anchor="t"/>
          <a:lstStyle/>
          <a:p>
            <a:pPr indent="0" marL="0">
              <a:buNone/>
            </a:pPr>
            <a:r>
              <a:rPr lang="en-US" sz="1700" b="1" dirty="0">
                <a:solidFill>
                  <a:schemeClr val="tx2"/>
                </a:solidFill>
              </a:rPr>
              <a:t>Pensado para el celular</a:t>
            </a:r>
            <a:endParaRPr lang="en-US" sz="1700" dirty="0"/>
          </a:p>
        </p:txBody>
      </p:sp>
      <p:sp>
        <p:nvSpPr>
          <p:cNvPr id="16" name="Text 11"/>
          <p:cNvSpPr txBox="1"/>
          <p:nvPr/>
        </p:nvSpPr>
        <p:spPr>
          <a:xfrm>
            <a:off x="7103404" y="5120640"/>
            <a:ext cx="4308308" cy="868680"/>
          </a:xfrm>
          <a:prstGeom prst="rect">
            <a:avLst/>
          </a:prstGeom>
          <a:noFill/>
          <a:ln/>
        </p:spPr>
        <p:txBody>
          <a:bodyPr wrap="square" lIns="0" tIns="0" rIns="0" bIns="0" rtlCol="0" anchor="t"/>
          <a:lstStyle/>
          <a:p>
            <a:pPr indent="0" marL="0">
              <a:buNone/>
            </a:pPr>
            <a:r>
              <a:rPr lang="en-US" sz="1400" dirty="0">
                <a:solidFill>
                  <a:schemeClr val="tx1"/>
                </a:solidFill>
              </a:rPr>
              <a:t>Se entra con la IP de la computadora por HTTPS; el menú se abre con ☰ y las tablas se deslizan.</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320040"/>
          </a:xfrm>
          <a:prstGeom prst="rect">
            <a:avLst/>
          </a:prstGeom>
          <a:noFill/>
          <a:ln/>
        </p:spPr>
        <p:txBody>
          <a:bodyPr wrap="square" lIns="0" tIns="0" rIns="0" bIns="0" rtlCol="0"/>
          <a:lstStyle/>
          <a:p>
            <a:pPr indent="0" marL="0">
              <a:buNone/>
            </a:pPr>
            <a:r>
              <a:rPr lang="en-US" sz="1200" b="1" spc="200" kern="0" dirty="0">
                <a:solidFill>
                  <a:schemeClr val="accent1"/>
                </a:solidFill>
              </a:rPr>
              <a:t>03 · CONCLUSIONES</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400" b="1" dirty="0">
                <a:solidFill>
                  <a:schemeClr val="tx2"/>
                </a:solidFill>
              </a:rPr>
              <a:t>Una aplicación completa y probada</a:t>
            </a:r>
            <a:endParaRPr lang="en-US" sz="3400" dirty="0"/>
          </a:p>
        </p:txBody>
      </p:sp>
      <p:sp>
        <p:nvSpPr>
          <p:cNvPr id="4" name="Text 2"/>
          <p:cNvSpPr txBox="1"/>
          <p:nvPr/>
        </p:nvSpPr>
        <p:spPr>
          <a:xfrm>
            <a:off x="548640" y="1463040"/>
            <a:ext cx="2606040" cy="1005840"/>
          </a:xfrm>
          <a:prstGeom prst="rect">
            <a:avLst/>
          </a:prstGeom>
          <a:noFill/>
          <a:ln/>
        </p:spPr>
        <p:txBody>
          <a:bodyPr wrap="square" lIns="0" tIns="0" rIns="0" bIns="0" rtlCol="0" anchor="t"/>
          <a:lstStyle/>
          <a:p>
            <a:pPr indent="0" marL="0">
              <a:buNone/>
            </a:pPr>
            <a:r>
              <a:rPr lang="en-US" sz="6400" b="1" dirty="0">
                <a:solidFill>
                  <a:schemeClr val="accent1"/>
                </a:solidFill>
              </a:rPr>
              <a:t>194</a:t>
            </a:r>
            <a:endParaRPr lang="en-US" sz="6400" dirty="0"/>
          </a:p>
        </p:txBody>
      </p:sp>
      <p:sp>
        <p:nvSpPr>
          <p:cNvPr id="5" name="Text 3"/>
          <p:cNvSpPr txBox="1"/>
          <p:nvPr/>
        </p:nvSpPr>
        <p:spPr>
          <a:xfrm>
            <a:off x="548640" y="2468880"/>
            <a:ext cx="2377440" cy="640080"/>
          </a:xfrm>
          <a:prstGeom prst="rect">
            <a:avLst/>
          </a:prstGeom>
          <a:noFill/>
          <a:ln/>
        </p:spPr>
        <p:txBody>
          <a:bodyPr wrap="square" lIns="0" tIns="0" rIns="0" bIns="0" rtlCol="0" anchor="t"/>
          <a:lstStyle/>
          <a:p>
            <a:pPr indent="0" marL="0">
              <a:buNone/>
            </a:pPr>
            <a:r>
              <a:rPr lang="en-US" sz="1500" dirty="0">
                <a:solidFill>
                  <a:srgbClr val="6B7280"/>
                </a:solidFill>
              </a:rPr>
              <a:t>pruebas automatizadas</a:t>
            </a:r>
            <a:endParaRPr lang="en-US" sz="1500" dirty="0"/>
          </a:p>
        </p:txBody>
      </p:sp>
      <p:sp>
        <p:nvSpPr>
          <p:cNvPr id="6" name="Text 4"/>
          <p:cNvSpPr txBox="1"/>
          <p:nvPr/>
        </p:nvSpPr>
        <p:spPr>
          <a:xfrm>
            <a:off x="3364992" y="1463040"/>
            <a:ext cx="2606040" cy="1005840"/>
          </a:xfrm>
          <a:prstGeom prst="rect">
            <a:avLst/>
          </a:prstGeom>
          <a:noFill/>
          <a:ln/>
        </p:spPr>
        <p:txBody>
          <a:bodyPr wrap="square" lIns="0" tIns="0" rIns="0" bIns="0" rtlCol="0" anchor="t"/>
          <a:lstStyle/>
          <a:p>
            <a:pPr indent="0" marL="0">
              <a:buNone/>
            </a:pPr>
            <a:r>
              <a:rPr lang="en-US" sz="6400" b="1" dirty="0">
                <a:solidFill>
                  <a:schemeClr val="accent1"/>
                </a:solidFill>
              </a:rPr>
              <a:t>85</a:t>
            </a:r>
            <a:endParaRPr lang="en-US" sz="6400" dirty="0"/>
          </a:p>
        </p:txBody>
      </p:sp>
      <p:sp>
        <p:nvSpPr>
          <p:cNvPr id="7" name="Text 5"/>
          <p:cNvSpPr txBox="1"/>
          <p:nvPr/>
        </p:nvSpPr>
        <p:spPr>
          <a:xfrm>
            <a:off x="3364992" y="2468880"/>
            <a:ext cx="2377440" cy="640080"/>
          </a:xfrm>
          <a:prstGeom prst="rect">
            <a:avLst/>
          </a:prstGeom>
          <a:noFill/>
          <a:ln/>
        </p:spPr>
        <p:txBody>
          <a:bodyPr wrap="square" lIns="0" tIns="0" rIns="0" bIns="0" rtlCol="0" anchor="t"/>
          <a:lstStyle/>
          <a:p>
            <a:pPr indent="0" marL="0">
              <a:buNone/>
            </a:pPr>
            <a:r>
              <a:rPr lang="en-US" sz="1500" dirty="0">
                <a:solidFill>
                  <a:srgbClr val="6B7280"/>
                </a:solidFill>
              </a:rPr>
              <a:t>pruebas manuales documentadas</a:t>
            </a:r>
            <a:endParaRPr lang="en-US" sz="1500" dirty="0"/>
          </a:p>
        </p:txBody>
      </p:sp>
      <p:sp>
        <p:nvSpPr>
          <p:cNvPr id="8" name="Text 6"/>
          <p:cNvSpPr txBox="1"/>
          <p:nvPr/>
        </p:nvSpPr>
        <p:spPr>
          <a:xfrm>
            <a:off x="6181344" y="1463040"/>
            <a:ext cx="2606040" cy="1005840"/>
          </a:xfrm>
          <a:prstGeom prst="rect">
            <a:avLst/>
          </a:prstGeom>
          <a:noFill/>
          <a:ln/>
        </p:spPr>
        <p:txBody>
          <a:bodyPr wrap="square" lIns="0" tIns="0" rIns="0" bIns="0" rtlCol="0" anchor="t"/>
          <a:lstStyle/>
          <a:p>
            <a:pPr indent="0" marL="0">
              <a:buNone/>
            </a:pPr>
            <a:r>
              <a:rPr lang="en-US" sz="6400" b="1" dirty="0">
                <a:solidFill>
                  <a:schemeClr val="accent1"/>
                </a:solidFill>
              </a:rPr>
              <a:t>18</a:t>
            </a:r>
            <a:endParaRPr lang="en-US" sz="6400" dirty="0"/>
          </a:p>
        </p:txBody>
      </p:sp>
      <p:sp>
        <p:nvSpPr>
          <p:cNvPr id="9" name="Text 7"/>
          <p:cNvSpPr txBox="1"/>
          <p:nvPr/>
        </p:nvSpPr>
        <p:spPr>
          <a:xfrm>
            <a:off x="6181344" y="2468880"/>
            <a:ext cx="2377440" cy="640080"/>
          </a:xfrm>
          <a:prstGeom prst="rect">
            <a:avLst/>
          </a:prstGeom>
          <a:noFill/>
          <a:ln/>
        </p:spPr>
        <p:txBody>
          <a:bodyPr wrap="square" lIns="0" tIns="0" rIns="0" bIns="0" rtlCol="0" anchor="t"/>
          <a:lstStyle/>
          <a:p>
            <a:pPr indent="0" marL="0">
              <a:buNone/>
            </a:pPr>
            <a:r>
              <a:rPr lang="en-US" sz="1500" dirty="0">
                <a:solidFill>
                  <a:srgbClr val="6B7280"/>
                </a:solidFill>
              </a:rPr>
              <a:t>errores encontrados y corregidos</a:t>
            </a:r>
            <a:endParaRPr lang="en-US" sz="1500" dirty="0"/>
          </a:p>
        </p:txBody>
      </p:sp>
      <p:sp>
        <p:nvSpPr>
          <p:cNvPr id="10" name="Text 8"/>
          <p:cNvSpPr txBox="1"/>
          <p:nvPr/>
        </p:nvSpPr>
        <p:spPr>
          <a:xfrm>
            <a:off x="8997696" y="1463040"/>
            <a:ext cx="2606040" cy="1005840"/>
          </a:xfrm>
          <a:prstGeom prst="rect">
            <a:avLst/>
          </a:prstGeom>
          <a:noFill/>
          <a:ln/>
        </p:spPr>
        <p:txBody>
          <a:bodyPr wrap="square" lIns="0" tIns="0" rIns="0" bIns="0" rtlCol="0" anchor="t"/>
          <a:lstStyle/>
          <a:p>
            <a:pPr indent="0" marL="0">
              <a:buNone/>
            </a:pPr>
            <a:r>
              <a:rPr lang="en-US" sz="6400" b="1" dirty="0">
                <a:solidFill>
                  <a:schemeClr val="accent1"/>
                </a:solidFill>
              </a:rPr>
              <a:t>1</a:t>
            </a:r>
            <a:endParaRPr lang="en-US" sz="6400" dirty="0"/>
          </a:p>
        </p:txBody>
      </p:sp>
      <p:sp>
        <p:nvSpPr>
          <p:cNvPr id="11" name="Text 9"/>
          <p:cNvSpPr txBox="1"/>
          <p:nvPr/>
        </p:nvSpPr>
        <p:spPr>
          <a:xfrm>
            <a:off x="8997696" y="2468880"/>
            <a:ext cx="2377440" cy="640080"/>
          </a:xfrm>
          <a:prstGeom prst="rect">
            <a:avLst/>
          </a:prstGeom>
          <a:noFill/>
          <a:ln/>
        </p:spPr>
        <p:txBody>
          <a:bodyPr wrap="square" lIns="0" tIns="0" rIns="0" bIns="0" rtlCol="0" anchor="t"/>
          <a:lstStyle/>
          <a:p>
            <a:pPr indent="0" marL="0">
              <a:buNone/>
            </a:pPr>
            <a:r>
              <a:rPr lang="en-US" sz="1500" dirty="0">
                <a:solidFill>
                  <a:srgbClr val="6B7280"/>
                </a:solidFill>
              </a:rPr>
              <a:t>comando para levantarla con Docker</a:t>
            </a:r>
            <a:endParaRPr lang="en-US" sz="1500" dirty="0"/>
          </a:p>
        </p:txBody>
      </p:sp>
      <p:sp>
        <p:nvSpPr>
          <p:cNvPr id="12" name="tarjeta"/>
          <p:cNvSpPr/>
          <p:nvPr/>
        </p:nvSpPr>
        <p:spPr>
          <a:xfrm>
            <a:off x="548640" y="3429000"/>
            <a:ext cx="3520440" cy="2606040"/>
          </a:xfrm>
          <a:prstGeom prst="roundRect">
            <a:avLst>
              <a:gd name="adj" fmla="val 4211"/>
            </a:avLst>
          </a:prstGeom>
          <a:solidFill>
            <a:srgbClr val="EEF2FF"/>
          </a:solidFill>
          <a:ln w="12700">
            <a:solidFill>
              <a:srgbClr val="EEF2FF"/>
            </a:solidFill>
            <a:prstDash val="solid"/>
          </a:ln>
        </p:spPr>
      </p:sp>
      <p:sp>
        <p:nvSpPr>
          <p:cNvPr id="13" name="icono-fondo"/>
          <p:cNvSpPr/>
          <p:nvPr/>
        </p:nvSpPr>
        <p:spPr>
          <a:xfrm>
            <a:off x="822960" y="3703320"/>
            <a:ext cx="640080" cy="640080"/>
          </a:xfrm>
          <a:prstGeom prst="ellipse">
            <a:avLst/>
          </a:prstGeom>
          <a:solidFill>
            <a:srgbClr val="4F46E5"/>
          </a:solidFill>
          <a:ln w="12700">
            <a:solidFill>
              <a:srgbClr val="4F46E5"/>
            </a:solidFill>
            <a:prstDash val="solid"/>
          </a:ln>
        </p:spPr>
      </p:sp>
      <p:pic>
        <p:nvPicPr>
          <p:cNvPr id="14" name="icono" descr="preencoded.png">    </p:cNvPr>
          <p:cNvPicPr>
            <a:picLocks noChangeAspect="1"/>
          </p:cNvPicPr>
          <p:nvPr/>
        </p:nvPicPr>
        <p:blipFill>
          <a:blip r:embed="rId1"/>
          <a:stretch>
            <a:fillRect/>
          </a:stretch>
        </p:blipFill>
        <p:spPr>
          <a:xfrm>
            <a:off x="982980" y="3863340"/>
            <a:ext cx="320040" cy="320040"/>
          </a:xfrm>
          <a:prstGeom prst="rect">
            <a:avLst/>
          </a:prstGeom>
        </p:spPr>
      </p:pic>
      <p:sp>
        <p:nvSpPr>
          <p:cNvPr id="15" name="Text 12"/>
          <p:cNvSpPr txBox="1"/>
          <p:nvPr/>
        </p:nvSpPr>
        <p:spPr>
          <a:xfrm>
            <a:off x="822960" y="4480560"/>
            <a:ext cx="3017520" cy="411480"/>
          </a:xfrm>
          <a:prstGeom prst="rect">
            <a:avLst/>
          </a:prstGeom>
          <a:noFill/>
          <a:ln/>
        </p:spPr>
        <p:txBody>
          <a:bodyPr wrap="square" lIns="0" tIns="0" rIns="0" bIns="0" rtlCol="0" anchor="t"/>
          <a:lstStyle/>
          <a:p>
            <a:pPr indent="0" marL="0">
              <a:buNone/>
            </a:pPr>
            <a:r>
              <a:rPr lang="en-US" sz="1800" b="1" dirty="0">
                <a:solidFill>
                  <a:schemeClr val="tx2"/>
                </a:solidFill>
              </a:rPr>
              <a:t>Base sólida antes que vistosa</a:t>
            </a:r>
            <a:endParaRPr lang="en-US" sz="1800" dirty="0"/>
          </a:p>
        </p:txBody>
      </p:sp>
      <p:sp>
        <p:nvSpPr>
          <p:cNvPr id="16" name="Text 13"/>
          <p:cNvSpPr txBox="1"/>
          <p:nvPr/>
        </p:nvSpPr>
        <p:spPr>
          <a:xfrm>
            <a:off x="822960" y="4937760"/>
            <a:ext cx="3017520" cy="1005840"/>
          </a:xfrm>
          <a:prstGeom prst="rect">
            <a:avLst/>
          </a:prstGeom>
          <a:noFill/>
          <a:ln/>
        </p:spPr>
        <p:txBody>
          <a:bodyPr wrap="square" lIns="0" tIns="0" rIns="0" bIns="0" rtlCol="0" anchor="t"/>
          <a:lstStyle/>
          <a:p>
            <a:pPr indent="0" marL="0">
              <a:buNone/>
            </a:pPr>
            <a:r>
              <a:rPr lang="en-US" sz="1400" dirty="0">
                <a:solidFill>
                  <a:schemeClr val="tx1"/>
                </a:solidFill>
              </a:rPr>
              <a:t>Elegir la versión que ya funcionaba permitió dedicar el tiempo a corregir y ampliar.</a:t>
            </a:r>
            <a:endParaRPr lang="en-US" sz="1400" dirty="0"/>
          </a:p>
        </p:txBody>
      </p:sp>
      <p:sp>
        <p:nvSpPr>
          <p:cNvPr id="17" name="tarjeta"/>
          <p:cNvSpPr/>
          <p:nvPr/>
        </p:nvSpPr>
        <p:spPr>
          <a:xfrm>
            <a:off x="4297680" y="3429000"/>
            <a:ext cx="3520440" cy="2606040"/>
          </a:xfrm>
          <a:prstGeom prst="roundRect">
            <a:avLst>
              <a:gd name="adj" fmla="val 4211"/>
            </a:avLst>
          </a:prstGeom>
          <a:solidFill>
            <a:srgbClr val="EEF2FF"/>
          </a:solidFill>
          <a:ln w="12700">
            <a:solidFill>
              <a:srgbClr val="EEF2FF"/>
            </a:solidFill>
            <a:prstDash val="solid"/>
          </a:ln>
        </p:spPr>
      </p:sp>
      <p:sp>
        <p:nvSpPr>
          <p:cNvPr id="18" name="icono-fondo"/>
          <p:cNvSpPr/>
          <p:nvPr/>
        </p:nvSpPr>
        <p:spPr>
          <a:xfrm>
            <a:off x="4572000" y="3703320"/>
            <a:ext cx="640080" cy="640080"/>
          </a:xfrm>
          <a:prstGeom prst="ellipse">
            <a:avLst/>
          </a:prstGeom>
          <a:solidFill>
            <a:srgbClr val="4F46E5"/>
          </a:solidFill>
          <a:ln w="12700">
            <a:solidFill>
              <a:srgbClr val="4F46E5"/>
            </a:solidFill>
            <a:prstDash val="solid"/>
          </a:ln>
        </p:spPr>
      </p:sp>
      <p:pic>
        <p:nvPicPr>
          <p:cNvPr id="19" name="icono" descr="preencoded.png">    </p:cNvPr>
          <p:cNvPicPr>
            <a:picLocks noChangeAspect="1"/>
          </p:cNvPicPr>
          <p:nvPr/>
        </p:nvPicPr>
        <p:blipFill>
          <a:blip r:embed="rId2"/>
          <a:stretch>
            <a:fillRect/>
          </a:stretch>
        </p:blipFill>
        <p:spPr>
          <a:xfrm>
            <a:off x="4732020" y="3863340"/>
            <a:ext cx="320040" cy="320040"/>
          </a:xfrm>
          <a:prstGeom prst="rect">
            <a:avLst/>
          </a:prstGeom>
        </p:spPr>
      </p:pic>
      <p:sp>
        <p:nvSpPr>
          <p:cNvPr id="20" name="Text 16"/>
          <p:cNvSpPr txBox="1"/>
          <p:nvPr/>
        </p:nvSpPr>
        <p:spPr>
          <a:xfrm>
            <a:off x="4572000" y="4480560"/>
            <a:ext cx="3017520" cy="411480"/>
          </a:xfrm>
          <a:prstGeom prst="rect">
            <a:avLst/>
          </a:prstGeom>
          <a:noFill/>
          <a:ln/>
        </p:spPr>
        <p:txBody>
          <a:bodyPr wrap="square" lIns="0" tIns="0" rIns="0" bIns="0" rtlCol="0" anchor="t"/>
          <a:lstStyle/>
          <a:p>
            <a:pPr indent="0" marL="0">
              <a:buNone/>
            </a:pPr>
            <a:r>
              <a:rPr lang="en-US" sz="1800" b="1" dirty="0">
                <a:solidFill>
                  <a:schemeClr val="tx2"/>
                </a:solidFill>
              </a:rPr>
              <a:t>Probar como un usuario real</a:t>
            </a:r>
            <a:endParaRPr lang="en-US" sz="1800" dirty="0"/>
          </a:p>
        </p:txBody>
      </p:sp>
      <p:sp>
        <p:nvSpPr>
          <p:cNvPr id="21" name="Text 17"/>
          <p:cNvSpPr txBox="1"/>
          <p:nvPr/>
        </p:nvSpPr>
        <p:spPr>
          <a:xfrm>
            <a:off x="4572000" y="4937760"/>
            <a:ext cx="3017520" cy="1005840"/>
          </a:xfrm>
          <a:prstGeom prst="rect">
            <a:avLst/>
          </a:prstGeom>
          <a:noFill/>
          <a:ln/>
        </p:spPr>
        <p:txBody>
          <a:bodyPr wrap="square" lIns="0" tIns="0" rIns="0" bIns="0" rtlCol="0" anchor="t"/>
          <a:lstStyle/>
          <a:p>
            <a:pPr indent="0" marL="0">
              <a:buNone/>
            </a:pPr>
            <a:r>
              <a:rPr lang="en-US" sz="1400" dirty="0">
                <a:solidFill>
                  <a:schemeClr val="tx1"/>
                </a:solidFill>
              </a:rPr>
              <a:t>Varios errores aparecieron recién al usar la aplicación en el celular y en la puerta.</a:t>
            </a:r>
            <a:endParaRPr lang="en-US" sz="1400" dirty="0"/>
          </a:p>
        </p:txBody>
      </p:sp>
      <p:sp>
        <p:nvSpPr>
          <p:cNvPr id="22" name="tarjeta"/>
          <p:cNvSpPr/>
          <p:nvPr/>
        </p:nvSpPr>
        <p:spPr>
          <a:xfrm>
            <a:off x="8046720" y="3429000"/>
            <a:ext cx="3520440" cy="2606040"/>
          </a:xfrm>
          <a:prstGeom prst="roundRect">
            <a:avLst>
              <a:gd name="adj" fmla="val 4211"/>
            </a:avLst>
          </a:prstGeom>
          <a:solidFill>
            <a:srgbClr val="EEF2FF"/>
          </a:solidFill>
          <a:ln w="12700">
            <a:solidFill>
              <a:srgbClr val="EEF2FF"/>
            </a:solidFill>
            <a:prstDash val="solid"/>
          </a:ln>
        </p:spPr>
      </p:sp>
      <p:sp>
        <p:nvSpPr>
          <p:cNvPr id="23" name="icono-fondo"/>
          <p:cNvSpPr/>
          <p:nvPr/>
        </p:nvSpPr>
        <p:spPr>
          <a:xfrm>
            <a:off x="8321040" y="3703320"/>
            <a:ext cx="640080" cy="640080"/>
          </a:xfrm>
          <a:prstGeom prst="ellipse">
            <a:avLst/>
          </a:prstGeom>
          <a:solidFill>
            <a:srgbClr val="4F46E5"/>
          </a:solidFill>
          <a:ln w="12700">
            <a:solidFill>
              <a:srgbClr val="4F46E5"/>
            </a:solidFill>
            <a:prstDash val="solid"/>
          </a:ln>
        </p:spPr>
      </p:sp>
      <p:pic>
        <p:nvPicPr>
          <p:cNvPr id="24" name="icono" descr="preencoded.png">    </p:cNvPr>
          <p:cNvPicPr>
            <a:picLocks noChangeAspect="1"/>
          </p:cNvPicPr>
          <p:nvPr/>
        </p:nvPicPr>
        <p:blipFill>
          <a:blip r:embed="rId3"/>
          <a:stretch>
            <a:fillRect/>
          </a:stretch>
        </p:blipFill>
        <p:spPr>
          <a:xfrm>
            <a:off x="8481060" y="3863340"/>
            <a:ext cx="320040" cy="320040"/>
          </a:xfrm>
          <a:prstGeom prst="rect">
            <a:avLst/>
          </a:prstGeom>
        </p:spPr>
      </p:pic>
      <p:sp>
        <p:nvSpPr>
          <p:cNvPr id="25" name="Text 20"/>
          <p:cNvSpPr txBox="1"/>
          <p:nvPr/>
        </p:nvSpPr>
        <p:spPr>
          <a:xfrm>
            <a:off x="8321040" y="4480560"/>
            <a:ext cx="3017520" cy="411480"/>
          </a:xfrm>
          <a:prstGeom prst="rect">
            <a:avLst/>
          </a:prstGeom>
          <a:noFill/>
          <a:ln/>
        </p:spPr>
        <p:txBody>
          <a:bodyPr wrap="square" lIns="0" tIns="0" rIns="0" bIns="0" rtlCol="0" anchor="t"/>
          <a:lstStyle/>
          <a:p>
            <a:pPr indent="0" marL="0">
              <a:buNone/>
            </a:pPr>
            <a:r>
              <a:rPr lang="en-US" sz="1800" b="1" dirty="0">
                <a:solidFill>
                  <a:schemeClr val="tx2"/>
                </a:solidFill>
              </a:rPr>
              <a:t>Configurado no es comprobado</a:t>
            </a:r>
            <a:endParaRPr lang="en-US" sz="1800" dirty="0"/>
          </a:p>
        </p:txBody>
      </p:sp>
      <p:sp>
        <p:nvSpPr>
          <p:cNvPr id="26" name="Text 21"/>
          <p:cNvSpPr txBox="1"/>
          <p:nvPr/>
        </p:nvSpPr>
        <p:spPr>
          <a:xfrm>
            <a:off x="8321040" y="4937760"/>
            <a:ext cx="3017520" cy="1005840"/>
          </a:xfrm>
          <a:prstGeom prst="rect">
            <a:avLst/>
          </a:prstGeom>
          <a:noFill/>
          <a:ln/>
        </p:spPr>
        <p:txBody>
          <a:bodyPr wrap="square" lIns="0" tIns="0" rIns="0" bIns="0" rtlCol="0" anchor="t"/>
          <a:lstStyle/>
          <a:p>
            <a:pPr indent="0" marL="0">
              <a:buNone/>
            </a:pPr>
            <a:r>
              <a:rPr lang="en-US" sz="1400" dirty="0">
                <a:solidFill>
                  <a:schemeClr val="tx1"/>
                </a:solidFill>
              </a:rPr>
              <a:t>Los límites de intentos del proyecto original nunca habían funcionado: los detectó una prueba.</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320040"/>
          </a:xfrm>
          <a:prstGeom prst="rect">
            <a:avLst/>
          </a:prstGeom>
          <a:noFill/>
          <a:ln/>
        </p:spPr>
        <p:txBody>
          <a:bodyPr wrap="square" lIns="0" tIns="0" rIns="0" bIns="0" rtlCol="0"/>
          <a:lstStyle/>
          <a:p>
            <a:pPr indent="0" marL="0">
              <a:buNone/>
            </a:pPr>
            <a:r>
              <a:rPr lang="en-US" sz="1200" b="1" spc="200" kern="0" dirty="0">
                <a:solidFill>
                  <a:schemeClr val="accent1"/>
                </a:solidFill>
              </a:rPr>
              <a:t>04 · TRABAJO A FUTURO</a:t>
            </a:r>
            <a:endParaRPr lang="en-US" sz="1200" dirty="0"/>
          </a:p>
        </p:txBody>
      </p:sp>
      <p:sp>
        <p:nvSpPr>
          <p:cNvPr id="3" name="Text 0"/>
          <p:cNvSpPr/>
          <p:nvPr>
            <p:ph idx="101"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400" b="1" dirty="0">
                <a:solidFill>
                  <a:schemeClr val="tx2"/>
                </a:solidFill>
              </a:rPr>
              <a:t>Próximos pasos</a:t>
            </a:r>
            <a:endParaRPr lang="en-US" sz="3400" dirty="0"/>
          </a:p>
        </p:txBody>
      </p:sp>
      <p:sp>
        <p:nvSpPr>
          <p:cNvPr id="4" name="Text 2"/>
          <p:cNvSpPr txBox="1"/>
          <p:nvPr/>
        </p:nvSpPr>
        <p:spPr>
          <a:xfrm>
            <a:off x="548640" y="1463040"/>
            <a:ext cx="5394960" cy="411480"/>
          </a:xfrm>
          <a:prstGeom prst="rect">
            <a:avLst/>
          </a:prstGeom>
          <a:noFill/>
          <a:ln/>
        </p:spPr>
        <p:txBody>
          <a:bodyPr wrap="square" lIns="0" tIns="0" rIns="0" bIns="0" rtlCol="0" anchor="t"/>
          <a:lstStyle/>
          <a:p>
            <a:pPr indent="0" marL="0">
              <a:buNone/>
            </a:pPr>
            <a:r>
              <a:rPr lang="en-US" sz="2000" b="1" dirty="0">
                <a:solidFill>
                  <a:schemeClr val="accent1"/>
                </a:solidFill>
              </a:rPr>
              <a:t>Para usarla en un evento real</a:t>
            </a:r>
            <a:endParaRPr lang="en-US" sz="2000" dirty="0"/>
          </a:p>
        </p:txBody>
      </p:sp>
      <p:sp>
        <p:nvSpPr>
          <p:cNvPr id="5" name="icono-fondo"/>
          <p:cNvSpPr/>
          <p:nvPr/>
        </p:nvSpPr>
        <p:spPr>
          <a:xfrm>
            <a:off x="548640" y="2011680"/>
            <a:ext cx="530352" cy="530352"/>
          </a:xfrm>
          <a:prstGeom prst="ellipse">
            <a:avLst/>
          </a:prstGeom>
          <a:solidFill>
            <a:srgbClr val="4F46E5"/>
          </a:solidFill>
          <a:ln w="12700">
            <a:solidFill>
              <a:srgbClr val="4F46E5"/>
            </a:solidFill>
            <a:prstDash val="solid"/>
          </a:ln>
        </p:spPr>
      </p:sp>
      <p:pic>
        <p:nvPicPr>
          <p:cNvPr id="6" name="icono" descr="preencoded.png">    </p:cNvPr>
          <p:cNvPicPr>
            <a:picLocks noChangeAspect="1"/>
          </p:cNvPicPr>
          <p:nvPr/>
        </p:nvPicPr>
        <p:blipFill>
          <a:blip r:embed="rId1"/>
          <a:stretch>
            <a:fillRect/>
          </a:stretch>
        </p:blipFill>
        <p:spPr>
          <a:xfrm>
            <a:off x="681228" y="2144268"/>
            <a:ext cx="265176" cy="265176"/>
          </a:xfrm>
          <a:prstGeom prst="rect">
            <a:avLst/>
          </a:prstGeom>
        </p:spPr>
      </p:pic>
      <p:sp>
        <p:nvSpPr>
          <p:cNvPr id="7" name="Text 4"/>
          <p:cNvSpPr txBox="1"/>
          <p:nvPr/>
        </p:nvSpPr>
        <p:spPr>
          <a:xfrm>
            <a:off x="1280160" y="1993392"/>
            <a:ext cx="4572000" cy="329184"/>
          </a:xfrm>
          <a:prstGeom prst="rect">
            <a:avLst/>
          </a:prstGeom>
          <a:noFill/>
          <a:ln/>
        </p:spPr>
        <p:txBody>
          <a:bodyPr wrap="square" lIns="0" tIns="0" rIns="0" bIns="0" rtlCol="0" anchor="t"/>
          <a:lstStyle/>
          <a:p>
            <a:pPr indent="0" marL="0">
              <a:buNone/>
            </a:pPr>
            <a:r>
              <a:rPr lang="en-US" sz="1600" b="1" dirty="0">
                <a:solidFill>
                  <a:schemeClr val="tx2"/>
                </a:solidFill>
              </a:rPr>
              <a:t>Publicación en internet</a:t>
            </a:r>
            <a:endParaRPr lang="en-US" sz="1600" dirty="0"/>
          </a:p>
        </p:txBody>
      </p:sp>
      <p:sp>
        <p:nvSpPr>
          <p:cNvPr id="8" name="Text 5"/>
          <p:cNvSpPr txBox="1"/>
          <p:nvPr/>
        </p:nvSpPr>
        <p:spPr>
          <a:xfrm>
            <a:off x="1280160" y="2322576"/>
            <a:ext cx="4572000" cy="548640"/>
          </a:xfrm>
          <a:prstGeom prst="rect">
            <a:avLst/>
          </a:prstGeom>
          <a:noFill/>
          <a:ln/>
        </p:spPr>
        <p:txBody>
          <a:bodyPr wrap="square" lIns="0" tIns="0" rIns="0" bIns="0" rtlCol="0" anchor="t"/>
          <a:lstStyle/>
          <a:p>
            <a:pPr indent="0" marL="0">
              <a:buNone/>
            </a:pPr>
            <a:r>
              <a:rPr lang="en-US" sz="1400" dirty="0">
                <a:solidFill>
                  <a:schemeClr val="tx1"/>
                </a:solidFill>
              </a:rPr>
              <a:t>Servidores de producción y HTTPS real.</a:t>
            </a:r>
            <a:endParaRPr lang="en-US" sz="1400" dirty="0"/>
          </a:p>
        </p:txBody>
      </p:sp>
      <p:sp>
        <p:nvSpPr>
          <p:cNvPr id="9" name="icono-fondo"/>
          <p:cNvSpPr/>
          <p:nvPr/>
        </p:nvSpPr>
        <p:spPr>
          <a:xfrm>
            <a:off x="548640" y="2999232"/>
            <a:ext cx="530352" cy="530352"/>
          </a:xfrm>
          <a:prstGeom prst="ellipse">
            <a:avLst/>
          </a:prstGeom>
          <a:solidFill>
            <a:srgbClr val="4F46E5"/>
          </a:solidFill>
          <a:ln w="12700">
            <a:solidFill>
              <a:srgbClr val="4F46E5"/>
            </a:solidFill>
            <a:prstDash val="solid"/>
          </a:ln>
        </p:spPr>
      </p:sp>
      <p:pic>
        <p:nvPicPr>
          <p:cNvPr id="10" name="icono" descr="preencoded.png">    </p:cNvPr>
          <p:cNvPicPr>
            <a:picLocks noChangeAspect="1"/>
          </p:cNvPicPr>
          <p:nvPr/>
        </p:nvPicPr>
        <p:blipFill>
          <a:blip r:embed="rId2"/>
          <a:stretch>
            <a:fillRect/>
          </a:stretch>
        </p:blipFill>
        <p:spPr>
          <a:xfrm>
            <a:off x="681228" y="3131820"/>
            <a:ext cx="265176" cy="265176"/>
          </a:xfrm>
          <a:prstGeom prst="rect">
            <a:avLst/>
          </a:prstGeom>
        </p:spPr>
      </p:pic>
      <p:sp>
        <p:nvSpPr>
          <p:cNvPr id="11" name="Text 7"/>
          <p:cNvSpPr txBox="1"/>
          <p:nvPr/>
        </p:nvSpPr>
        <p:spPr>
          <a:xfrm>
            <a:off x="1280160" y="2980944"/>
            <a:ext cx="4572000" cy="329184"/>
          </a:xfrm>
          <a:prstGeom prst="rect">
            <a:avLst/>
          </a:prstGeom>
          <a:noFill/>
          <a:ln/>
        </p:spPr>
        <p:txBody>
          <a:bodyPr wrap="square" lIns="0" tIns="0" rIns="0" bIns="0" rtlCol="0" anchor="t"/>
          <a:lstStyle/>
          <a:p>
            <a:pPr indent="0" marL="0">
              <a:buNone/>
            </a:pPr>
            <a:r>
              <a:rPr lang="en-US" sz="1600" b="1" dirty="0">
                <a:solidFill>
                  <a:schemeClr val="tx2"/>
                </a:solidFill>
              </a:rPr>
              <a:t>Envío real de correos</a:t>
            </a:r>
            <a:endParaRPr lang="en-US" sz="1600" dirty="0"/>
          </a:p>
        </p:txBody>
      </p:sp>
      <p:sp>
        <p:nvSpPr>
          <p:cNvPr id="12" name="Text 8"/>
          <p:cNvSpPr txBox="1"/>
          <p:nvPr/>
        </p:nvSpPr>
        <p:spPr>
          <a:xfrm>
            <a:off x="1280160" y="3310128"/>
            <a:ext cx="4572000" cy="548640"/>
          </a:xfrm>
          <a:prstGeom prst="rect">
            <a:avLst/>
          </a:prstGeom>
          <a:noFill/>
          <a:ln/>
        </p:spPr>
        <p:txBody>
          <a:bodyPr wrap="square" lIns="0" tIns="0" rIns="0" bIns="0" rtlCol="0" anchor="t"/>
          <a:lstStyle/>
          <a:p>
            <a:pPr indent="0" marL="0">
              <a:buNone/>
            </a:pPr>
            <a:r>
              <a:rPr lang="en-US" sz="1400" dirty="0">
                <a:solidFill>
                  <a:schemeClr val="tx1"/>
                </a:solidFill>
              </a:rPr>
              <a:t>Que las invitaciones lleguen a la casilla.</a:t>
            </a:r>
            <a:endParaRPr lang="en-US" sz="1400" dirty="0"/>
          </a:p>
        </p:txBody>
      </p:sp>
      <p:sp>
        <p:nvSpPr>
          <p:cNvPr id="13" name="icono-fondo"/>
          <p:cNvSpPr/>
          <p:nvPr/>
        </p:nvSpPr>
        <p:spPr>
          <a:xfrm>
            <a:off x="548640" y="3986784"/>
            <a:ext cx="530352" cy="530352"/>
          </a:xfrm>
          <a:prstGeom prst="ellipse">
            <a:avLst/>
          </a:prstGeom>
          <a:solidFill>
            <a:srgbClr val="4F46E5"/>
          </a:solidFill>
          <a:ln w="12700">
            <a:solidFill>
              <a:srgbClr val="4F46E5"/>
            </a:solidFill>
            <a:prstDash val="solid"/>
          </a:ln>
        </p:spPr>
      </p:sp>
      <p:pic>
        <p:nvPicPr>
          <p:cNvPr id="14" name="icono" descr="preencoded.png">    </p:cNvPr>
          <p:cNvPicPr>
            <a:picLocks noChangeAspect="1"/>
          </p:cNvPicPr>
          <p:nvPr/>
        </p:nvPicPr>
        <p:blipFill>
          <a:blip r:embed="rId3"/>
          <a:stretch>
            <a:fillRect/>
          </a:stretch>
        </p:blipFill>
        <p:spPr>
          <a:xfrm>
            <a:off x="681228" y="4119372"/>
            <a:ext cx="265176" cy="265176"/>
          </a:xfrm>
          <a:prstGeom prst="rect">
            <a:avLst/>
          </a:prstGeom>
        </p:spPr>
      </p:pic>
      <p:sp>
        <p:nvSpPr>
          <p:cNvPr id="15" name="Text 10"/>
          <p:cNvSpPr txBox="1"/>
          <p:nvPr/>
        </p:nvSpPr>
        <p:spPr>
          <a:xfrm>
            <a:off x="1280160" y="3968496"/>
            <a:ext cx="4572000" cy="329184"/>
          </a:xfrm>
          <a:prstGeom prst="rect">
            <a:avLst/>
          </a:prstGeom>
          <a:noFill/>
          <a:ln/>
        </p:spPr>
        <p:txBody>
          <a:bodyPr wrap="square" lIns="0" tIns="0" rIns="0" bIns="0" rtlCol="0" anchor="t"/>
          <a:lstStyle/>
          <a:p>
            <a:pPr indent="0" marL="0">
              <a:buNone/>
            </a:pPr>
            <a:r>
              <a:rPr lang="en-US" sz="1600" b="1" dirty="0">
                <a:solidFill>
                  <a:schemeClr val="tx2"/>
                </a:solidFill>
              </a:rPr>
              <a:t>PostgreSQL</a:t>
            </a:r>
            <a:endParaRPr lang="en-US" sz="1600" dirty="0"/>
          </a:p>
        </p:txBody>
      </p:sp>
      <p:sp>
        <p:nvSpPr>
          <p:cNvPr id="16" name="Text 11"/>
          <p:cNvSpPr txBox="1"/>
          <p:nvPr/>
        </p:nvSpPr>
        <p:spPr>
          <a:xfrm>
            <a:off x="1280160" y="4297680"/>
            <a:ext cx="4572000" cy="548640"/>
          </a:xfrm>
          <a:prstGeom prst="rect">
            <a:avLst/>
          </a:prstGeom>
          <a:noFill/>
          <a:ln/>
        </p:spPr>
        <p:txBody>
          <a:bodyPr wrap="square" lIns="0" tIns="0" rIns="0" bIns="0" rtlCol="0" anchor="t"/>
          <a:lstStyle/>
          <a:p>
            <a:pPr indent="0" marL="0">
              <a:buNone/>
            </a:pPr>
            <a:r>
              <a:rPr lang="en-US" sz="1400" dirty="0">
                <a:solidFill>
                  <a:schemeClr val="tx1"/>
                </a:solidFill>
              </a:rPr>
              <a:t>Varios usuarios a la vez y copias de seguridad.</a:t>
            </a:r>
            <a:endParaRPr lang="en-US" sz="1400" dirty="0"/>
          </a:p>
        </p:txBody>
      </p:sp>
      <p:sp>
        <p:nvSpPr>
          <p:cNvPr id="17" name="Text 12"/>
          <p:cNvSpPr txBox="1"/>
          <p:nvPr/>
        </p:nvSpPr>
        <p:spPr>
          <a:xfrm>
            <a:off x="6217920" y="1463040"/>
            <a:ext cx="5394960" cy="411480"/>
          </a:xfrm>
          <a:prstGeom prst="rect">
            <a:avLst/>
          </a:prstGeom>
          <a:noFill/>
          <a:ln/>
        </p:spPr>
        <p:txBody>
          <a:bodyPr wrap="square" lIns="0" tIns="0" rIns="0" bIns="0" rtlCol="0" anchor="t"/>
          <a:lstStyle/>
          <a:p>
            <a:pPr indent="0" marL="0">
              <a:buNone/>
            </a:pPr>
            <a:r>
              <a:rPr lang="en-US" sz="2000" b="1" dirty="0">
                <a:solidFill>
                  <a:schemeClr val="accent2"/>
                </a:solidFill>
              </a:rPr>
              <a:t>Para crecer: una página principal</a:t>
            </a:r>
            <a:endParaRPr lang="en-US" sz="2000" dirty="0"/>
          </a:p>
        </p:txBody>
      </p:sp>
      <p:sp>
        <p:nvSpPr>
          <p:cNvPr id="18" name="icono-fondo"/>
          <p:cNvSpPr/>
          <p:nvPr/>
        </p:nvSpPr>
        <p:spPr>
          <a:xfrm>
            <a:off x="6217920" y="2011680"/>
            <a:ext cx="530352" cy="530352"/>
          </a:xfrm>
          <a:prstGeom prst="ellipse">
            <a:avLst/>
          </a:prstGeom>
          <a:solidFill>
            <a:srgbClr val="16A34A"/>
          </a:solidFill>
          <a:ln w="12700">
            <a:solidFill>
              <a:srgbClr val="16A34A"/>
            </a:solidFill>
            <a:prstDash val="solid"/>
          </a:ln>
        </p:spPr>
      </p:sp>
      <p:pic>
        <p:nvPicPr>
          <p:cNvPr id="19" name="icono" descr="preencoded.png">    </p:cNvPr>
          <p:cNvPicPr>
            <a:picLocks noChangeAspect="1"/>
          </p:cNvPicPr>
          <p:nvPr/>
        </p:nvPicPr>
        <p:blipFill>
          <a:blip r:embed="rId4"/>
          <a:stretch>
            <a:fillRect/>
          </a:stretch>
        </p:blipFill>
        <p:spPr>
          <a:xfrm>
            <a:off x="6350508" y="2144268"/>
            <a:ext cx="265176" cy="265176"/>
          </a:xfrm>
          <a:prstGeom prst="rect">
            <a:avLst/>
          </a:prstGeom>
        </p:spPr>
      </p:pic>
      <p:sp>
        <p:nvSpPr>
          <p:cNvPr id="20" name="Text 14"/>
          <p:cNvSpPr txBox="1"/>
          <p:nvPr/>
        </p:nvSpPr>
        <p:spPr>
          <a:xfrm>
            <a:off x="6949440" y="1993392"/>
            <a:ext cx="4572000" cy="329184"/>
          </a:xfrm>
          <a:prstGeom prst="rect">
            <a:avLst/>
          </a:prstGeom>
          <a:noFill/>
          <a:ln/>
        </p:spPr>
        <p:txBody>
          <a:bodyPr wrap="square" lIns="0" tIns="0" rIns="0" bIns="0" rtlCol="0" anchor="t"/>
          <a:lstStyle/>
          <a:p>
            <a:pPr indent="0" marL="0">
              <a:buNone/>
            </a:pPr>
            <a:r>
              <a:rPr lang="en-US" sz="1600" b="1" dirty="0">
                <a:solidFill>
                  <a:schemeClr val="tx2"/>
                </a:solidFill>
              </a:rPr>
              <a:t>Lugares populares</a:t>
            </a:r>
            <a:endParaRPr lang="en-US" sz="1600" dirty="0"/>
          </a:p>
        </p:txBody>
      </p:sp>
      <p:sp>
        <p:nvSpPr>
          <p:cNvPr id="21" name="Text 15"/>
          <p:cNvSpPr txBox="1"/>
          <p:nvPr/>
        </p:nvSpPr>
        <p:spPr>
          <a:xfrm>
            <a:off x="6949440" y="2322576"/>
            <a:ext cx="4572000" cy="548640"/>
          </a:xfrm>
          <a:prstGeom prst="rect">
            <a:avLst/>
          </a:prstGeom>
          <a:noFill/>
          <a:ln/>
        </p:spPr>
        <p:txBody>
          <a:bodyPr wrap="square" lIns="0" tIns="0" rIns="0" bIns="0" rtlCol="0" anchor="t"/>
          <a:lstStyle/>
          <a:p>
            <a:pPr indent="0" marL="0">
              <a:buNone/>
            </a:pPr>
            <a:r>
              <a:rPr lang="en-US" sz="1400" dirty="0">
                <a:solidFill>
                  <a:schemeClr val="tx1"/>
                </a:solidFill>
              </a:rPr>
              <a:t>Precio aproximado, imágenes y contacto desde sus páginas oficiales.</a:t>
            </a:r>
            <a:endParaRPr lang="en-US" sz="1400" dirty="0"/>
          </a:p>
        </p:txBody>
      </p:sp>
      <p:sp>
        <p:nvSpPr>
          <p:cNvPr id="22" name="icono-fondo"/>
          <p:cNvSpPr/>
          <p:nvPr/>
        </p:nvSpPr>
        <p:spPr>
          <a:xfrm>
            <a:off x="6217920" y="2999232"/>
            <a:ext cx="530352" cy="530352"/>
          </a:xfrm>
          <a:prstGeom prst="ellipse">
            <a:avLst/>
          </a:prstGeom>
          <a:solidFill>
            <a:srgbClr val="16A34A"/>
          </a:solidFill>
          <a:ln w="12700">
            <a:solidFill>
              <a:srgbClr val="16A34A"/>
            </a:solidFill>
            <a:prstDash val="solid"/>
          </a:ln>
        </p:spPr>
      </p:sp>
      <p:pic>
        <p:nvPicPr>
          <p:cNvPr id="23" name="icono" descr="preencoded.png">    </p:cNvPr>
          <p:cNvPicPr>
            <a:picLocks noChangeAspect="1"/>
          </p:cNvPicPr>
          <p:nvPr/>
        </p:nvPicPr>
        <p:blipFill>
          <a:blip r:embed="rId5"/>
          <a:stretch>
            <a:fillRect/>
          </a:stretch>
        </p:blipFill>
        <p:spPr>
          <a:xfrm>
            <a:off x="6350508" y="3131820"/>
            <a:ext cx="265176" cy="265176"/>
          </a:xfrm>
          <a:prstGeom prst="rect">
            <a:avLst/>
          </a:prstGeom>
        </p:spPr>
      </p:pic>
      <p:sp>
        <p:nvSpPr>
          <p:cNvPr id="24" name="Text 17"/>
          <p:cNvSpPr txBox="1"/>
          <p:nvPr/>
        </p:nvSpPr>
        <p:spPr>
          <a:xfrm>
            <a:off x="6949440" y="2980944"/>
            <a:ext cx="4572000" cy="329184"/>
          </a:xfrm>
          <a:prstGeom prst="rect">
            <a:avLst/>
          </a:prstGeom>
          <a:noFill/>
          <a:ln/>
        </p:spPr>
        <p:txBody>
          <a:bodyPr wrap="square" lIns="0" tIns="0" rIns="0" bIns="0" rtlCol="0" anchor="t"/>
          <a:lstStyle/>
          <a:p>
            <a:pPr indent="0" marL="0">
              <a:buNone/>
            </a:pPr>
            <a:r>
              <a:rPr lang="en-US" sz="1600" b="1" dirty="0">
                <a:solidFill>
                  <a:schemeClr val="tx2"/>
                </a:solidFill>
              </a:rPr>
              <a:t>Carrusel de lugares</a:t>
            </a:r>
            <a:endParaRPr lang="en-US" sz="1600" dirty="0"/>
          </a:p>
        </p:txBody>
      </p:sp>
      <p:sp>
        <p:nvSpPr>
          <p:cNvPr id="25" name="Text 18"/>
          <p:cNvSpPr txBox="1"/>
          <p:nvPr/>
        </p:nvSpPr>
        <p:spPr>
          <a:xfrm>
            <a:off x="6949440" y="3310128"/>
            <a:ext cx="4572000" cy="548640"/>
          </a:xfrm>
          <a:prstGeom prst="rect">
            <a:avLst/>
          </a:prstGeom>
          <a:noFill/>
          <a:ln/>
        </p:spPr>
        <p:txBody>
          <a:bodyPr wrap="square" lIns="0" tIns="0" rIns="0" bIns="0" rtlCol="0" anchor="t"/>
          <a:lstStyle/>
          <a:p>
            <a:pPr indent="0" marL="0">
              <a:buNone/>
            </a:pPr>
            <a:r>
              <a:rPr lang="en-US" sz="1400" dirty="0">
                <a:solidFill>
                  <a:schemeClr val="tx1"/>
                </a:solidFill>
              </a:rPr>
              <a:t>Publicidad paga de lugares destacados.</a:t>
            </a:r>
            <a:endParaRPr lang="en-US" sz="1400" dirty="0"/>
          </a:p>
        </p:txBody>
      </p:sp>
      <p:sp>
        <p:nvSpPr>
          <p:cNvPr id="26" name="icono-fondo"/>
          <p:cNvSpPr/>
          <p:nvPr/>
        </p:nvSpPr>
        <p:spPr>
          <a:xfrm>
            <a:off x="6217920" y="3986784"/>
            <a:ext cx="530352" cy="530352"/>
          </a:xfrm>
          <a:prstGeom prst="ellipse">
            <a:avLst/>
          </a:prstGeom>
          <a:solidFill>
            <a:srgbClr val="16A34A"/>
          </a:solidFill>
          <a:ln w="12700">
            <a:solidFill>
              <a:srgbClr val="16A34A"/>
            </a:solidFill>
            <a:prstDash val="solid"/>
          </a:ln>
        </p:spPr>
      </p:sp>
      <p:pic>
        <p:nvPicPr>
          <p:cNvPr id="27" name="icono" descr="preencoded.png">    </p:cNvPr>
          <p:cNvPicPr>
            <a:picLocks noChangeAspect="1"/>
          </p:cNvPicPr>
          <p:nvPr/>
        </p:nvPicPr>
        <p:blipFill>
          <a:blip r:embed="rId6"/>
          <a:stretch>
            <a:fillRect/>
          </a:stretch>
        </p:blipFill>
        <p:spPr>
          <a:xfrm>
            <a:off x="6350508" y="4119372"/>
            <a:ext cx="265176" cy="265176"/>
          </a:xfrm>
          <a:prstGeom prst="rect">
            <a:avLst/>
          </a:prstGeom>
        </p:spPr>
      </p:pic>
      <p:sp>
        <p:nvSpPr>
          <p:cNvPr id="28" name="Text 20"/>
          <p:cNvSpPr txBox="1"/>
          <p:nvPr/>
        </p:nvSpPr>
        <p:spPr>
          <a:xfrm>
            <a:off x="6949440" y="3968496"/>
            <a:ext cx="4572000" cy="329184"/>
          </a:xfrm>
          <a:prstGeom prst="rect">
            <a:avLst/>
          </a:prstGeom>
          <a:noFill/>
          <a:ln/>
        </p:spPr>
        <p:txBody>
          <a:bodyPr wrap="square" lIns="0" tIns="0" rIns="0" bIns="0" rtlCol="0" anchor="t"/>
          <a:lstStyle/>
          <a:p>
            <a:pPr indent="0" marL="0">
              <a:buNone/>
            </a:pPr>
            <a:r>
              <a:rPr lang="en-US" sz="1600" b="1" dirty="0">
                <a:solidFill>
                  <a:schemeClr val="tx2"/>
                </a:solidFill>
              </a:rPr>
              <a:t>Eventos destacados</a:t>
            </a:r>
            <a:endParaRPr lang="en-US" sz="1600" dirty="0"/>
          </a:p>
        </p:txBody>
      </p:sp>
      <p:sp>
        <p:nvSpPr>
          <p:cNvPr id="29" name="Text 21"/>
          <p:cNvSpPr txBox="1"/>
          <p:nvPr/>
        </p:nvSpPr>
        <p:spPr>
          <a:xfrm>
            <a:off x="6949440" y="4297680"/>
            <a:ext cx="4572000" cy="548640"/>
          </a:xfrm>
          <a:prstGeom prst="rect">
            <a:avLst/>
          </a:prstGeom>
          <a:noFill/>
          <a:ln/>
        </p:spPr>
        <p:txBody>
          <a:bodyPr wrap="square" lIns="0" tIns="0" rIns="0" bIns="0" rtlCol="0" anchor="t"/>
          <a:lstStyle/>
          <a:p>
            <a:pPr indent="0" marL="0">
              <a:buNone/>
            </a:pPr>
            <a:r>
              <a:rPr lang="en-US" sz="1400" dirty="0">
                <a:solidFill>
                  <a:schemeClr val="tx1"/>
                </a:solidFill>
              </a:rPr>
              <a:t>De organizadores de EventPro y externos.</a:t>
            </a:r>
            <a:endParaRPr lang="en-US" sz="1400" dirty="0"/>
          </a:p>
        </p:txBody>
      </p:sp>
      <p:sp>
        <p:nvSpPr>
          <p:cNvPr id="30" name="icono-fondo"/>
          <p:cNvSpPr/>
          <p:nvPr/>
        </p:nvSpPr>
        <p:spPr>
          <a:xfrm>
            <a:off x="6217920" y="4974336"/>
            <a:ext cx="530352" cy="530352"/>
          </a:xfrm>
          <a:prstGeom prst="ellipse">
            <a:avLst/>
          </a:prstGeom>
          <a:solidFill>
            <a:srgbClr val="16A34A"/>
          </a:solidFill>
          <a:ln w="12700">
            <a:solidFill>
              <a:srgbClr val="16A34A"/>
            </a:solidFill>
            <a:prstDash val="solid"/>
          </a:ln>
        </p:spPr>
      </p:sp>
      <p:pic>
        <p:nvPicPr>
          <p:cNvPr id="31" name="icono" descr="preencoded.png">    </p:cNvPr>
          <p:cNvPicPr>
            <a:picLocks noChangeAspect="1"/>
          </p:cNvPicPr>
          <p:nvPr/>
        </p:nvPicPr>
        <p:blipFill>
          <a:blip r:embed="rId7"/>
          <a:stretch>
            <a:fillRect/>
          </a:stretch>
        </p:blipFill>
        <p:spPr>
          <a:xfrm>
            <a:off x="6350508" y="5106924"/>
            <a:ext cx="265176" cy="265176"/>
          </a:xfrm>
          <a:prstGeom prst="rect">
            <a:avLst/>
          </a:prstGeom>
        </p:spPr>
      </p:pic>
      <p:sp>
        <p:nvSpPr>
          <p:cNvPr id="32" name="Text 23"/>
          <p:cNvSpPr txBox="1"/>
          <p:nvPr/>
        </p:nvSpPr>
        <p:spPr>
          <a:xfrm>
            <a:off x="6949440" y="4956048"/>
            <a:ext cx="4572000" cy="329184"/>
          </a:xfrm>
          <a:prstGeom prst="rect">
            <a:avLst/>
          </a:prstGeom>
          <a:noFill/>
          <a:ln/>
        </p:spPr>
        <p:txBody>
          <a:bodyPr wrap="square" lIns="0" tIns="0" rIns="0" bIns="0" rtlCol="0" anchor="t"/>
          <a:lstStyle/>
          <a:p>
            <a:pPr indent="0" marL="0">
              <a:buNone/>
            </a:pPr>
            <a:r>
              <a:rPr lang="en-US" sz="1600" b="1" dirty="0">
                <a:solidFill>
                  <a:schemeClr val="tx2"/>
                </a:solidFill>
              </a:rPr>
              <a:t>Reservas de lugares</a:t>
            </a:r>
            <a:endParaRPr lang="en-US" sz="1600" dirty="0"/>
          </a:p>
        </p:txBody>
      </p:sp>
      <p:sp>
        <p:nvSpPr>
          <p:cNvPr id="33" name="Text 24"/>
          <p:cNvSpPr txBox="1"/>
          <p:nvPr/>
        </p:nvSpPr>
        <p:spPr>
          <a:xfrm>
            <a:off x="6949440" y="5285232"/>
            <a:ext cx="4572000" cy="548640"/>
          </a:xfrm>
          <a:prstGeom prst="rect">
            <a:avLst/>
          </a:prstGeom>
          <a:noFill/>
          <a:ln/>
        </p:spPr>
        <p:txBody>
          <a:bodyPr wrap="square" lIns="0" tIns="0" rIns="0" bIns="0" rtlCol="0" anchor="t"/>
          <a:lstStyle/>
          <a:p>
            <a:pPr indent="0" marL="0">
              <a:buNone/>
            </a:pPr>
            <a:r>
              <a:rPr lang="en-US" sz="1400" dirty="0">
                <a:solidFill>
                  <a:schemeClr val="tx1"/>
                </a:solidFill>
              </a:rPr>
              <a:t>El dueño acepta y la fecha pasa a su calendario.</a:t>
            </a:r>
            <a:endParaRPr lang="en-US" sz="1400" dirty="0"/>
          </a:p>
        </p:txBody>
      </p:sp>
      <p:sp>
        <p:nvSpPr>
          <p:cNvPr id="34" name="nota"/>
          <p:cNvSpPr/>
          <p:nvPr/>
        </p:nvSpPr>
        <p:spPr>
          <a:xfrm>
            <a:off x="548640" y="5074920"/>
            <a:ext cx="5120640" cy="731520"/>
          </a:xfrm>
          <a:prstGeom prst="roundRect">
            <a:avLst>
              <a:gd name="adj" fmla="val 12500"/>
            </a:avLst>
          </a:prstGeom>
          <a:solidFill>
            <a:srgbClr val="EEF2FF"/>
          </a:solidFill>
          <a:ln w="12700">
            <a:solidFill>
              <a:srgbClr val="EEF2FF"/>
            </a:solidFill>
            <a:prstDash val="solid"/>
          </a:ln>
        </p:spPr>
      </p:sp>
      <p:sp>
        <p:nvSpPr>
          <p:cNvPr id="35" name="Text 26"/>
          <p:cNvSpPr txBox="1"/>
          <p:nvPr/>
        </p:nvSpPr>
        <p:spPr>
          <a:xfrm>
            <a:off x="731520" y="5138928"/>
            <a:ext cx="4800600" cy="621792"/>
          </a:xfrm>
          <a:prstGeom prst="rect">
            <a:avLst/>
          </a:prstGeom>
          <a:noFill/>
          <a:ln/>
        </p:spPr>
        <p:txBody>
          <a:bodyPr wrap="square" lIns="0" tIns="0" rIns="0" bIns="0" rtlCol="0" anchor="ctr"/>
          <a:lstStyle/>
          <a:p>
            <a:pPr indent="0" marL="0">
              <a:buNone/>
            </a:pPr>
            <a:r>
              <a:rPr lang="en-US" sz="1300" dirty="0">
                <a:solidFill>
                  <a:schemeClr val="tx2"/>
                </a:solidFill>
              </a:rPr>
              <a:t>Los datos de los lugares respetarán los términos de uso de cada sitio, con la fuente y la fecha de actualización.</a:t>
            </a:r>
            <a:endParaRPr lang="en-US" sz="1300" dirty="0"/>
          </a:p>
        </p:txBody>
      </p:sp>
      <p:sp>
        <p:nvSpPr>
          <p:cNvPr id="36" name="Text 27"/>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300" i="1" dirty="0">
                <a:solidFill>
                  <a:srgbClr val="6B7280"/>
                </a:solidFill>
              </a:rPr>
              <a:t>Además: eliminar eventos desde la pantalla · check-in sin conexión · recordatorios · foto de perfil · reportes en PDF</a:t>
            </a:r>
            <a:endParaRPr lang="en-US" sz="13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2103120"/>
            <a:ext cx="10881360" cy="1280160"/>
          </a:xfrm>
          <a:prstGeom prst="rect">
            <a:avLst/>
          </a:prstGeom>
          <a:noFill/>
          <a:ln/>
        </p:spPr>
        <p:txBody>
          <a:bodyPr wrap="square" lIns="0" tIns="0" rIns="0" bIns="0" rtlCol="0" anchor="ctr"/>
          <a:lstStyle/>
          <a:p>
            <a:pPr algn="ctr" indent="0" marL="0">
              <a:buNone/>
            </a:pPr>
            <a:r>
              <a:rPr lang="en-US" sz="6000" b="1" dirty="0">
                <a:solidFill>
                  <a:schemeClr val="bg1"/>
                </a:solidFill>
              </a:rPr>
              <a:t>¡Gracias!</a:t>
            </a:r>
            <a:endParaRPr lang="en-US" sz="6000" dirty="0"/>
          </a:p>
        </p:txBody>
      </p:sp>
      <p:sp>
        <p:nvSpPr>
          <p:cNvPr id="3" name="Text 0"/>
          <p:cNvSpPr/>
          <p:nvPr>
            <p:ph idx="101" type="body" hasCustomPrompt="1"/>
          </p:nvPr>
        </p:nvSpPr>
        <p:spPr>
          <a:xfrm>
            <a:off x="640080" y="3474720"/>
            <a:ext cx="10881360" cy="731520"/>
          </a:xfrm>
          <a:prstGeom prst="rect">
            <a:avLst/>
          </a:prstGeom>
          <a:noFill/>
          <a:ln/>
        </p:spPr>
        <p:txBody>
          <a:bodyPr wrap="square" lIns="0" tIns="0" rIns="0" bIns="0" rtlCol="0" anchor="t"/>
          <a:lstStyle/>
          <a:p>
            <a:pPr algn="ctr" indent="0" marL="0">
              <a:buNone/>
            </a:pPr>
            <a:r>
              <a:rPr lang="en-US" sz="2400" dirty="0">
                <a:solidFill>
                  <a:schemeClr val="bg2"/>
                </a:solidFill>
              </a:rPr>
              <a:t>¿Preguntas?</a:t>
            </a:r>
            <a:endParaRPr lang="en-US" sz="2400" dirty="0"/>
          </a:p>
        </p:txBody>
      </p:sp>
      <p:sp>
        <p:nvSpPr>
          <p:cNvPr id="4" name="Text 2"/>
          <p:cNvSpPr txBox="1"/>
          <p:nvPr/>
        </p:nvSpPr>
        <p:spPr>
          <a:xfrm>
            <a:off x="640080" y="4846320"/>
            <a:ext cx="10881360" cy="365760"/>
          </a:xfrm>
          <a:prstGeom prst="rect">
            <a:avLst/>
          </a:prstGeom>
          <a:noFill/>
          <a:ln/>
        </p:spPr>
        <p:txBody>
          <a:bodyPr wrap="square" lIns="0" tIns="0" rIns="0" bIns="0" rtlCol="0" anchor="t"/>
          <a:lstStyle/>
          <a:p>
            <a:pPr algn="ctr" indent="0" marL="0">
              <a:buNone/>
            </a:pPr>
            <a:r>
              <a:rPr lang="en-US" sz="1600" dirty="0">
                <a:solidFill>
                  <a:schemeClr val="bg1"/>
                </a:solidFill>
              </a:rPr>
              <a:t>github.com/alem123q/eventpro</a:t>
            </a:r>
            <a:endParaRPr lang="en-US" sz="1600" dirty="0"/>
          </a:p>
        </p:txBody>
      </p:sp>
    </p:spTree>
  </p:cSld>
  <p:clrMapOvr>
    <a:masterClrMapping/>
  </p:clrMapOvr>
</p:sld>
</file>

<file path=ppt/theme/theme1.xml><?xml version="1.0" encoding="utf-8"?>
<a:theme xmlns:a="http://schemas.openxmlformats.org/drawingml/2006/main" name="EventPro">
  <a:themeElements>
    <a:clrScheme name="EventPro">
      <a:dk1>
        <a:srgbClr val="1F2937"/>
      </a:dk1>
      <a:lt1>
        <a:srgbClr val="FFFFFF"/>
      </a:lt1>
      <a:dk2>
        <a:srgbClr val="1E1B4B"/>
      </a:dk2>
      <a:lt2>
        <a:srgbClr val="EEF2FF"/>
      </a:lt2>
      <a:accent1>
        <a:srgbClr val="4F46E5"/>
      </a:accent1>
      <a:accent2>
        <a:srgbClr val="16A34A"/>
      </a:accent2>
      <a:accent3>
        <a:srgbClr val="F59E0B"/>
      </a:accent3>
      <a:accent4>
        <a:srgbClr val="DC2626"/>
      </a:accent4>
      <a:accent5>
        <a:srgbClr val="0EA5E9"/>
      </a:accent5>
      <a:accent6>
        <a:srgbClr val="6B7280"/>
      </a:accent6>
      <a:hlink>
        <a:srgbClr val="4F46E5"/>
      </a:hlink>
      <a:folHlink>
        <a:srgbClr val="7C3AED"/>
      </a:folHlink>
    </a:clrScheme>
    <a:fontScheme name="EventPr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EventPro</dc:title>
  <dc:subject>Programación — UNRaf</dc:subject>
  <dc:creator>Francisco Alemandi, Eloy Kirov y Sebastián Palavecino</dc:creator>
  <cp:lastModifiedBy>Francisco Alemandi, Eloy Kirov y Sebastián Palavecino</cp:lastModifiedBy>
  <cp:revision>1</cp:revision>
  <dcterms:created xsi:type="dcterms:W3CDTF">2026-10-20T18:08:17Z</dcterms:created>
  <dcterms:modified xsi:type="dcterms:W3CDTF">2026-10-20T18:08:17Z</dcterms:modified>
</cp:coreProperties>
</file>